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7" r:id="rId2"/>
    <p:sldId id="270" r:id="rId3"/>
    <p:sldId id="259" r:id="rId4"/>
    <p:sldId id="268" r:id="rId5"/>
    <p:sldId id="258" r:id="rId6"/>
    <p:sldId id="256" r:id="rId7"/>
    <p:sldId id="266" r:id="rId8"/>
    <p:sldId id="264" r:id="rId9"/>
    <p:sldId id="261" r:id="rId10"/>
    <p:sldId id="263" r:id="rId11"/>
    <p:sldId id="269" r:id="rId12"/>
  </p:sldIdLst>
  <p:sldSz cx="9144000" cy="5143500" type="screen16x9"/>
  <p:notesSz cx="6858000" cy="9144000"/>
  <p:embeddedFontLst>
    <p:embeddedFont>
      <p:font typeface="Bookman Old Style" panose="02050604050505020204" pitchFamily="18" charset="0"/>
      <p:regular r:id="rId14"/>
      <p:bold r:id="rId15"/>
      <p:italic r:id="rId16"/>
      <p:boldItalic r:id="rId17"/>
    </p:embeddedFont>
    <p:embeddedFont>
      <p:font typeface="Trebuchet MS" panose="020B0603020202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52">
          <p15:clr>
            <a:srgbClr val="A4A3A4"/>
          </p15:clr>
        </p15:guide>
        <p15:guide id="2" pos="2880">
          <p15:clr>
            <a:srgbClr val="A4A3A4"/>
          </p15:clr>
        </p15:guide>
        <p15:guide id="3" orient="horz" pos="341">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rJ0D/MsuSXOUVxaGnMA7KvreI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3205E1-8B83-452B-8570-0B3C4014EAE2}">
  <a:tblStyle styleId="{1D3205E1-8B83-452B-8570-0B3C4014EAE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315C70A-538D-417A-92C0-71925D08A8B3}"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D5A0FFB-A8A9-46A4-9661-18E49C95CCCC}"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9C8218C-A777-4940-B823-F447B7272C07}" styleName="Table_3">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86" y="250"/>
      </p:cViewPr>
      <p:guideLst>
        <p:guide orient="horz" pos="1152"/>
        <p:guide pos="2880"/>
        <p:guide orient="horz" pos="3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7306491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908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9204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7AFE8A14-7B3F-F593-8DA9-85C614ECBFBC}"/>
            </a:ext>
          </a:extLst>
        </p:cNvPr>
        <p:cNvGrpSpPr/>
        <p:nvPr/>
      </p:nvGrpSpPr>
      <p:grpSpPr>
        <a:xfrm>
          <a:off x="0" y="0"/>
          <a:ext cx="0" cy="0"/>
          <a:chOff x="0" y="0"/>
          <a:chExt cx="0" cy="0"/>
        </a:xfrm>
      </p:grpSpPr>
      <p:sp>
        <p:nvSpPr>
          <p:cNvPr id="114" name="Google Shape;114;p1:notes">
            <a:extLst>
              <a:ext uri="{FF2B5EF4-FFF2-40B4-BE49-F238E27FC236}">
                <a16:creationId xmlns:a16="http://schemas.microsoft.com/office/drawing/2014/main" id="{41594E7F-9EA6-AF70-9EEE-554C1ABE59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a:extLst>
              <a:ext uri="{FF2B5EF4-FFF2-40B4-BE49-F238E27FC236}">
                <a16:creationId xmlns:a16="http://schemas.microsoft.com/office/drawing/2014/main" id="{09F59C34-9FC4-806A-54A7-B47B8C66C2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181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744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566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542A94CA-CBBD-2DBB-24AE-314380BBF304}"/>
            </a:ext>
          </a:extLst>
        </p:cNvPr>
        <p:cNvGrpSpPr/>
        <p:nvPr/>
      </p:nvGrpSpPr>
      <p:grpSpPr>
        <a:xfrm>
          <a:off x="0" y="0"/>
          <a:ext cx="0" cy="0"/>
          <a:chOff x="0" y="0"/>
          <a:chExt cx="0" cy="0"/>
        </a:xfrm>
      </p:grpSpPr>
      <p:sp>
        <p:nvSpPr>
          <p:cNvPr id="114" name="Google Shape;114;p1:notes">
            <a:extLst>
              <a:ext uri="{FF2B5EF4-FFF2-40B4-BE49-F238E27FC236}">
                <a16:creationId xmlns:a16="http://schemas.microsoft.com/office/drawing/2014/main" id="{B10AAD31-049A-F07B-9041-A42FFB4FAD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a:extLst>
              <a:ext uri="{FF2B5EF4-FFF2-40B4-BE49-F238E27FC236}">
                <a16:creationId xmlns:a16="http://schemas.microsoft.com/office/drawing/2014/main" id="{D0AA0FE1-5C7A-8C91-1FA3-DCC06149D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1062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6C2CCCBF-4F64-9D12-A4E7-E1B252F9B2C5}"/>
            </a:ext>
          </a:extLst>
        </p:cNvPr>
        <p:cNvGrpSpPr/>
        <p:nvPr/>
      </p:nvGrpSpPr>
      <p:grpSpPr>
        <a:xfrm>
          <a:off x="0" y="0"/>
          <a:ext cx="0" cy="0"/>
          <a:chOff x="0" y="0"/>
          <a:chExt cx="0" cy="0"/>
        </a:xfrm>
      </p:grpSpPr>
      <p:sp>
        <p:nvSpPr>
          <p:cNvPr id="114" name="Google Shape;114;p1:notes">
            <a:extLst>
              <a:ext uri="{FF2B5EF4-FFF2-40B4-BE49-F238E27FC236}">
                <a16:creationId xmlns:a16="http://schemas.microsoft.com/office/drawing/2014/main" id="{7AF3B77B-056A-4A06-7E8E-A1312E7559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a:extLst>
              <a:ext uri="{FF2B5EF4-FFF2-40B4-BE49-F238E27FC236}">
                <a16:creationId xmlns:a16="http://schemas.microsoft.com/office/drawing/2014/main" id="{B44D083A-B403-8EE1-5383-E0E28FF363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566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75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536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0"/>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SzPts val="207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0"/>
          <p:cNvSpPr txBox="1">
            <a:spLocks noGrp="1"/>
          </p:cNvSpPr>
          <p:nvPr>
            <p:ph type="body" idx="1"/>
          </p:nvPr>
        </p:nvSpPr>
        <p:spPr>
          <a:xfrm>
            <a:off x="457200" y="1200152"/>
            <a:ext cx="8229600" cy="3394500"/>
          </a:xfrm>
          <a:prstGeom prst="rect">
            <a:avLst/>
          </a:prstGeom>
          <a:noFill/>
          <a:ln>
            <a:noFill/>
          </a:ln>
        </p:spPr>
        <p:txBody>
          <a:bodyPr spcFirstLastPara="1" wrap="square" lIns="94100" tIns="47025" rIns="94100" bIns="47025" anchor="t" anchorCtr="0">
            <a:noAutofit/>
          </a:bodyPr>
          <a:lstStyle>
            <a:lvl1pPr marL="457200" lvl="0" indent="-1187450" algn="l">
              <a:lnSpc>
                <a:spcPct val="100000"/>
              </a:lnSpc>
              <a:spcBef>
                <a:spcPts val="3020"/>
              </a:spcBef>
              <a:spcAft>
                <a:spcPts val="0"/>
              </a:spcAft>
              <a:buSzPts val="15100"/>
              <a:buChar char="•"/>
              <a:defRPr/>
            </a:lvl1pPr>
            <a:lvl2pPr marL="914400" lvl="1" indent="-1066800" algn="l">
              <a:lnSpc>
                <a:spcPct val="100000"/>
              </a:lnSpc>
              <a:spcBef>
                <a:spcPts val="2640"/>
              </a:spcBef>
              <a:spcAft>
                <a:spcPts val="0"/>
              </a:spcAft>
              <a:buSzPts val="13200"/>
              <a:buChar char="–"/>
              <a:defRPr/>
            </a:lvl2pPr>
            <a:lvl3pPr marL="1371600" lvl="2" indent="-946150" algn="l">
              <a:lnSpc>
                <a:spcPct val="100000"/>
              </a:lnSpc>
              <a:spcBef>
                <a:spcPts val="2260"/>
              </a:spcBef>
              <a:spcAft>
                <a:spcPts val="0"/>
              </a:spcAft>
              <a:buSzPts val="11300"/>
              <a:buChar char="•"/>
              <a:defRPr/>
            </a:lvl3pPr>
            <a:lvl4pPr marL="1828800" lvl="3" indent="-825500" algn="l">
              <a:lnSpc>
                <a:spcPct val="100000"/>
              </a:lnSpc>
              <a:spcBef>
                <a:spcPts val="1880"/>
              </a:spcBef>
              <a:spcAft>
                <a:spcPts val="0"/>
              </a:spcAft>
              <a:buSzPts val="9400"/>
              <a:buChar char="–"/>
              <a:defRPr/>
            </a:lvl4pPr>
            <a:lvl5pPr marL="2286000" lvl="4" indent="-825500" algn="l">
              <a:lnSpc>
                <a:spcPct val="100000"/>
              </a:lnSpc>
              <a:spcBef>
                <a:spcPts val="1880"/>
              </a:spcBef>
              <a:spcAft>
                <a:spcPts val="0"/>
              </a:spcAft>
              <a:buSzPts val="9400"/>
              <a:buChar char="»"/>
              <a:defRPr/>
            </a:lvl5pPr>
            <a:lvl6pPr marL="2743200" lvl="5" indent="-825500" algn="l">
              <a:lnSpc>
                <a:spcPct val="100000"/>
              </a:lnSpc>
              <a:spcBef>
                <a:spcPts val="1880"/>
              </a:spcBef>
              <a:spcAft>
                <a:spcPts val="0"/>
              </a:spcAft>
              <a:buSzPts val="9400"/>
              <a:buChar char="•"/>
              <a:defRPr/>
            </a:lvl6pPr>
            <a:lvl7pPr marL="3200400" lvl="6" indent="-825500" algn="l">
              <a:lnSpc>
                <a:spcPct val="100000"/>
              </a:lnSpc>
              <a:spcBef>
                <a:spcPts val="1880"/>
              </a:spcBef>
              <a:spcAft>
                <a:spcPts val="0"/>
              </a:spcAft>
              <a:buSzPts val="9400"/>
              <a:buChar char="•"/>
              <a:defRPr/>
            </a:lvl7pPr>
            <a:lvl8pPr marL="3657600" lvl="7" indent="-825500" algn="l">
              <a:lnSpc>
                <a:spcPct val="100000"/>
              </a:lnSpc>
              <a:spcBef>
                <a:spcPts val="1880"/>
              </a:spcBef>
              <a:spcAft>
                <a:spcPts val="0"/>
              </a:spcAft>
              <a:buSzPts val="9400"/>
              <a:buChar char="•"/>
              <a:defRPr/>
            </a:lvl8pPr>
            <a:lvl9pPr marL="4114800" lvl="8" indent="-825500" algn="l">
              <a:lnSpc>
                <a:spcPct val="100000"/>
              </a:lnSpc>
              <a:spcBef>
                <a:spcPts val="1880"/>
              </a:spcBef>
              <a:spcAft>
                <a:spcPts val="0"/>
              </a:spcAft>
              <a:buSzPts val="9400"/>
              <a:buChar char="•"/>
              <a:defRPr/>
            </a:lvl9pPr>
          </a:lstStyle>
          <a:p>
            <a:endParaRPr/>
          </a:p>
        </p:txBody>
      </p:sp>
      <p:sp>
        <p:nvSpPr>
          <p:cNvPr id="14" name="Google Shape;14;p20"/>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Department of Computer Science and Engineering</a:t>
            </a:r>
            <a:endParaRPr/>
          </a:p>
        </p:txBody>
      </p:sp>
      <p:sp>
        <p:nvSpPr>
          <p:cNvPr id="16" name="Google Shape;16;p20"/>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457202" y="204788"/>
            <a:ext cx="3008400" cy="8718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3575051" y="204789"/>
            <a:ext cx="5111700" cy="4389900"/>
          </a:xfrm>
          <a:prstGeom prst="rect">
            <a:avLst/>
          </a:prstGeom>
          <a:noFill/>
          <a:ln>
            <a:noFill/>
          </a:ln>
        </p:spPr>
        <p:txBody>
          <a:bodyPr spcFirstLastPara="1" wrap="square" lIns="94100" tIns="47025" rIns="94100" bIns="47025" anchor="t" anchorCtr="0">
            <a:noAutofit/>
          </a:bodyPr>
          <a:lstStyle>
            <a:lvl1pPr marL="457200" lvl="0" indent="-1187450" algn="l">
              <a:lnSpc>
                <a:spcPct val="100000"/>
              </a:lnSpc>
              <a:spcBef>
                <a:spcPts val="660"/>
              </a:spcBef>
              <a:spcAft>
                <a:spcPts val="0"/>
              </a:spcAft>
              <a:buClr>
                <a:schemeClr val="dk1"/>
              </a:buClr>
              <a:buSzPts val="15100"/>
              <a:buChar char="•"/>
              <a:defRPr sz="3300"/>
            </a:lvl1pPr>
            <a:lvl2pPr marL="914400" lvl="1" indent="-1066800" algn="l">
              <a:lnSpc>
                <a:spcPct val="100000"/>
              </a:lnSpc>
              <a:spcBef>
                <a:spcPts val="577"/>
              </a:spcBef>
              <a:spcAft>
                <a:spcPts val="0"/>
              </a:spcAft>
              <a:buClr>
                <a:schemeClr val="dk1"/>
              </a:buClr>
              <a:buSzPts val="13200"/>
              <a:buChar char="–"/>
              <a:defRPr sz="2900"/>
            </a:lvl2pPr>
            <a:lvl3pPr marL="1371600" lvl="2" indent="-946150" algn="l">
              <a:lnSpc>
                <a:spcPct val="100000"/>
              </a:lnSpc>
              <a:spcBef>
                <a:spcPts val="494"/>
              </a:spcBef>
              <a:spcAft>
                <a:spcPts val="0"/>
              </a:spcAft>
              <a:buClr>
                <a:schemeClr val="dk1"/>
              </a:buClr>
              <a:buSzPts val="11300"/>
              <a:buChar char="•"/>
              <a:defRPr sz="2500"/>
            </a:lvl3pPr>
            <a:lvl4pPr marL="1828800" lvl="3" indent="-825500" algn="l">
              <a:lnSpc>
                <a:spcPct val="100000"/>
              </a:lnSpc>
              <a:spcBef>
                <a:spcPts val="411"/>
              </a:spcBef>
              <a:spcAft>
                <a:spcPts val="0"/>
              </a:spcAft>
              <a:buClr>
                <a:schemeClr val="dk1"/>
              </a:buClr>
              <a:buSzPts val="9400"/>
              <a:buChar char="–"/>
              <a:defRPr sz="2100"/>
            </a:lvl4pPr>
            <a:lvl5pPr marL="2286000" lvl="4" indent="-825500" algn="l">
              <a:lnSpc>
                <a:spcPct val="100000"/>
              </a:lnSpc>
              <a:spcBef>
                <a:spcPts val="411"/>
              </a:spcBef>
              <a:spcAft>
                <a:spcPts val="0"/>
              </a:spcAft>
              <a:buClr>
                <a:schemeClr val="dk1"/>
              </a:buClr>
              <a:buSzPts val="9400"/>
              <a:buChar char="»"/>
              <a:defRPr sz="2100"/>
            </a:lvl5pPr>
            <a:lvl6pPr marL="2743200" lvl="5" indent="-825500" algn="l">
              <a:lnSpc>
                <a:spcPct val="100000"/>
              </a:lnSpc>
              <a:spcBef>
                <a:spcPts val="411"/>
              </a:spcBef>
              <a:spcAft>
                <a:spcPts val="0"/>
              </a:spcAft>
              <a:buClr>
                <a:schemeClr val="dk1"/>
              </a:buClr>
              <a:buSzPts val="9400"/>
              <a:buChar char="•"/>
              <a:defRPr sz="2100"/>
            </a:lvl6pPr>
            <a:lvl7pPr marL="3200400" lvl="6" indent="-825500" algn="l">
              <a:lnSpc>
                <a:spcPct val="100000"/>
              </a:lnSpc>
              <a:spcBef>
                <a:spcPts val="411"/>
              </a:spcBef>
              <a:spcAft>
                <a:spcPts val="0"/>
              </a:spcAft>
              <a:buClr>
                <a:schemeClr val="dk1"/>
              </a:buClr>
              <a:buSzPts val="9400"/>
              <a:buChar char="•"/>
              <a:defRPr sz="2100"/>
            </a:lvl7pPr>
            <a:lvl8pPr marL="3657600" lvl="7" indent="-825500" algn="l">
              <a:lnSpc>
                <a:spcPct val="100000"/>
              </a:lnSpc>
              <a:spcBef>
                <a:spcPts val="411"/>
              </a:spcBef>
              <a:spcAft>
                <a:spcPts val="0"/>
              </a:spcAft>
              <a:buClr>
                <a:schemeClr val="dk1"/>
              </a:buClr>
              <a:buSzPts val="9400"/>
              <a:buChar char="•"/>
              <a:defRPr sz="2100"/>
            </a:lvl8pPr>
            <a:lvl9pPr marL="4114800" lvl="8" indent="-825500" algn="l">
              <a:lnSpc>
                <a:spcPct val="100000"/>
              </a:lnSpc>
              <a:spcBef>
                <a:spcPts val="411"/>
              </a:spcBef>
              <a:spcAft>
                <a:spcPts val="0"/>
              </a:spcAft>
              <a:buClr>
                <a:schemeClr val="dk1"/>
              </a:buClr>
              <a:buSzPts val="9400"/>
              <a:buChar char="•"/>
              <a:defRPr sz="2100"/>
            </a:lvl9pPr>
          </a:lstStyle>
          <a:p>
            <a:endParaRPr/>
          </a:p>
        </p:txBody>
      </p:sp>
      <p:sp>
        <p:nvSpPr>
          <p:cNvPr id="36" name="Google Shape;36;p23"/>
          <p:cNvSpPr txBox="1">
            <a:spLocks noGrp="1"/>
          </p:cNvSpPr>
          <p:nvPr>
            <p:ph type="body" idx="2"/>
          </p:nvPr>
        </p:nvSpPr>
        <p:spPr>
          <a:xfrm>
            <a:off x="457202" y="1076326"/>
            <a:ext cx="3008400" cy="35184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89"/>
              </a:spcBef>
              <a:spcAft>
                <a:spcPts val="0"/>
              </a:spcAft>
              <a:buClr>
                <a:schemeClr val="dk1"/>
              </a:buClr>
              <a:buSzPts val="6600"/>
              <a:buNone/>
              <a:defRPr sz="1400"/>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6"/>
              </a:spcBef>
              <a:spcAft>
                <a:spcPts val="0"/>
              </a:spcAft>
              <a:buClr>
                <a:schemeClr val="dk1"/>
              </a:buClr>
              <a:buSzPts val="4700"/>
              <a:buNone/>
              <a:defRPr sz="1000"/>
            </a:lvl3pPr>
            <a:lvl4pPr marL="1828800" lvl="3" indent="-228600" algn="l">
              <a:lnSpc>
                <a:spcPct val="100000"/>
              </a:lnSpc>
              <a:spcBef>
                <a:spcPts val="184"/>
              </a:spcBef>
              <a:spcAft>
                <a:spcPts val="0"/>
              </a:spcAft>
              <a:buClr>
                <a:schemeClr val="dk1"/>
              </a:buClr>
              <a:buSzPts val="4200"/>
              <a:buNone/>
              <a:defRPr sz="900"/>
            </a:lvl4pPr>
            <a:lvl5pPr marL="2286000" lvl="4" indent="-228600" algn="l">
              <a:lnSpc>
                <a:spcPct val="100000"/>
              </a:lnSpc>
              <a:spcBef>
                <a:spcPts val="184"/>
              </a:spcBef>
              <a:spcAft>
                <a:spcPts val="0"/>
              </a:spcAft>
              <a:buClr>
                <a:schemeClr val="dk1"/>
              </a:buClr>
              <a:buSzPts val="4200"/>
              <a:buNone/>
              <a:defRPr sz="900"/>
            </a:lvl5pPr>
            <a:lvl6pPr marL="2743200" lvl="5" indent="-228600" algn="l">
              <a:lnSpc>
                <a:spcPct val="100000"/>
              </a:lnSpc>
              <a:spcBef>
                <a:spcPts val="184"/>
              </a:spcBef>
              <a:spcAft>
                <a:spcPts val="0"/>
              </a:spcAft>
              <a:buClr>
                <a:schemeClr val="dk1"/>
              </a:buClr>
              <a:buSzPts val="4200"/>
              <a:buNone/>
              <a:defRPr sz="900"/>
            </a:lvl6pPr>
            <a:lvl7pPr marL="3200400" lvl="6" indent="-228600" algn="l">
              <a:lnSpc>
                <a:spcPct val="100000"/>
              </a:lnSpc>
              <a:spcBef>
                <a:spcPts val="184"/>
              </a:spcBef>
              <a:spcAft>
                <a:spcPts val="0"/>
              </a:spcAft>
              <a:buClr>
                <a:schemeClr val="dk1"/>
              </a:buClr>
              <a:buSzPts val="4200"/>
              <a:buNone/>
              <a:defRPr sz="900"/>
            </a:lvl7pPr>
            <a:lvl8pPr marL="3657600" lvl="7" indent="-228600" algn="l">
              <a:lnSpc>
                <a:spcPct val="100000"/>
              </a:lnSpc>
              <a:spcBef>
                <a:spcPts val="184"/>
              </a:spcBef>
              <a:spcAft>
                <a:spcPts val="0"/>
              </a:spcAft>
              <a:buClr>
                <a:schemeClr val="dk1"/>
              </a:buClr>
              <a:buSzPts val="4200"/>
              <a:buNone/>
              <a:defRPr sz="900"/>
            </a:lvl8pPr>
            <a:lvl9pPr marL="4114800" lvl="8" indent="-228600" algn="l">
              <a:lnSpc>
                <a:spcPct val="100000"/>
              </a:lnSpc>
              <a:spcBef>
                <a:spcPts val="184"/>
              </a:spcBef>
              <a:spcAft>
                <a:spcPts val="0"/>
              </a:spcAft>
              <a:buClr>
                <a:schemeClr val="dk1"/>
              </a:buClr>
              <a:buSzPts val="4200"/>
              <a:buNone/>
              <a:defRPr sz="900"/>
            </a:lvl9pPr>
          </a:lstStyle>
          <a:p>
            <a:endParaRPr/>
          </a:p>
        </p:txBody>
      </p:sp>
      <p:sp>
        <p:nvSpPr>
          <p:cNvPr id="37" name="Google Shape;37;p23"/>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38" name="Google Shape;38;p23"/>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r>
              <a:rPr lang="en-US"/>
              <a:t>Department of Computer Science and Engineering</a:t>
            </a:r>
            <a:endParaRPr/>
          </a:p>
        </p:txBody>
      </p:sp>
      <p:sp>
        <p:nvSpPr>
          <p:cNvPr id="39" name="Google Shape;39;p23"/>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1792289" y="3600452"/>
            <a:ext cx="5486400" cy="425100"/>
          </a:xfrm>
          <a:prstGeom prst="rect">
            <a:avLst/>
          </a:prstGeom>
          <a:noFill/>
          <a:ln>
            <a:noFill/>
          </a:ln>
        </p:spPr>
        <p:txBody>
          <a:bodyPr spcFirstLastPara="1" wrap="square" lIns="94100" tIns="47025" rIns="94100" bIns="47025" anchor="b" anchorCtr="0">
            <a:noAutofit/>
          </a:bodyPr>
          <a:lstStyle>
            <a:lvl1pPr lvl="0" algn="l">
              <a:lnSpc>
                <a:spcPct val="100000"/>
              </a:lnSpc>
              <a:spcBef>
                <a:spcPts val="0"/>
              </a:spcBef>
              <a:spcAft>
                <a:spcPts val="0"/>
              </a:spcAft>
              <a:buClr>
                <a:schemeClr val="dk1"/>
              </a:buClr>
              <a:buSzPts val="9400"/>
              <a:buFont typeface="Calibri"/>
              <a:buNone/>
              <a:defRPr sz="21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4"/>
          <p:cNvSpPr>
            <a:spLocks noGrp="1"/>
          </p:cNvSpPr>
          <p:nvPr>
            <p:ph type="pic" idx="2"/>
          </p:nvPr>
        </p:nvSpPr>
        <p:spPr>
          <a:xfrm>
            <a:off x="1792289" y="459581"/>
            <a:ext cx="5486400" cy="3086100"/>
          </a:xfrm>
          <a:prstGeom prst="rect">
            <a:avLst/>
          </a:prstGeom>
          <a:noFill/>
          <a:ln>
            <a:noFill/>
          </a:ln>
        </p:spPr>
      </p:sp>
      <p:sp>
        <p:nvSpPr>
          <p:cNvPr id="43" name="Google Shape;43;p24"/>
          <p:cNvSpPr txBox="1">
            <a:spLocks noGrp="1"/>
          </p:cNvSpPr>
          <p:nvPr>
            <p:ph type="body" idx="1"/>
          </p:nvPr>
        </p:nvSpPr>
        <p:spPr>
          <a:xfrm>
            <a:off x="1792289" y="4025505"/>
            <a:ext cx="5486400" cy="603600"/>
          </a:xfrm>
          <a:prstGeom prst="rect">
            <a:avLst/>
          </a:prstGeom>
          <a:noFill/>
          <a:ln>
            <a:noFill/>
          </a:ln>
        </p:spPr>
        <p:txBody>
          <a:bodyPr spcFirstLastPara="1" wrap="square" lIns="94100" tIns="47025" rIns="94100" bIns="47025" anchor="t" anchorCtr="0">
            <a:noAutofit/>
          </a:bodyPr>
          <a:lstStyle>
            <a:lvl1pPr marL="457200" lvl="0" indent="-228600" algn="l">
              <a:lnSpc>
                <a:spcPct val="100000"/>
              </a:lnSpc>
              <a:spcBef>
                <a:spcPts val="289"/>
              </a:spcBef>
              <a:spcAft>
                <a:spcPts val="0"/>
              </a:spcAft>
              <a:buClr>
                <a:schemeClr val="dk1"/>
              </a:buClr>
              <a:buSzPts val="6600"/>
              <a:buNone/>
              <a:defRPr sz="1400"/>
            </a:lvl1pPr>
            <a:lvl2pPr marL="914400" lvl="1" indent="-228600" algn="l">
              <a:lnSpc>
                <a:spcPct val="100000"/>
              </a:lnSpc>
              <a:spcBef>
                <a:spcPts val="245"/>
              </a:spcBef>
              <a:spcAft>
                <a:spcPts val="0"/>
              </a:spcAft>
              <a:buClr>
                <a:schemeClr val="dk1"/>
              </a:buClr>
              <a:buSzPts val="5600"/>
              <a:buNone/>
              <a:defRPr sz="1200"/>
            </a:lvl2pPr>
            <a:lvl3pPr marL="1371600" lvl="2" indent="-228600" algn="l">
              <a:lnSpc>
                <a:spcPct val="100000"/>
              </a:lnSpc>
              <a:spcBef>
                <a:spcPts val="206"/>
              </a:spcBef>
              <a:spcAft>
                <a:spcPts val="0"/>
              </a:spcAft>
              <a:buClr>
                <a:schemeClr val="dk1"/>
              </a:buClr>
              <a:buSzPts val="4700"/>
              <a:buNone/>
              <a:defRPr sz="1000"/>
            </a:lvl3pPr>
            <a:lvl4pPr marL="1828800" lvl="3" indent="-228600" algn="l">
              <a:lnSpc>
                <a:spcPct val="100000"/>
              </a:lnSpc>
              <a:spcBef>
                <a:spcPts val="184"/>
              </a:spcBef>
              <a:spcAft>
                <a:spcPts val="0"/>
              </a:spcAft>
              <a:buClr>
                <a:schemeClr val="dk1"/>
              </a:buClr>
              <a:buSzPts val="4200"/>
              <a:buNone/>
              <a:defRPr sz="900"/>
            </a:lvl4pPr>
            <a:lvl5pPr marL="2286000" lvl="4" indent="-228600" algn="l">
              <a:lnSpc>
                <a:spcPct val="100000"/>
              </a:lnSpc>
              <a:spcBef>
                <a:spcPts val="184"/>
              </a:spcBef>
              <a:spcAft>
                <a:spcPts val="0"/>
              </a:spcAft>
              <a:buClr>
                <a:schemeClr val="dk1"/>
              </a:buClr>
              <a:buSzPts val="4200"/>
              <a:buNone/>
              <a:defRPr sz="900"/>
            </a:lvl5pPr>
            <a:lvl6pPr marL="2743200" lvl="5" indent="-228600" algn="l">
              <a:lnSpc>
                <a:spcPct val="100000"/>
              </a:lnSpc>
              <a:spcBef>
                <a:spcPts val="184"/>
              </a:spcBef>
              <a:spcAft>
                <a:spcPts val="0"/>
              </a:spcAft>
              <a:buClr>
                <a:schemeClr val="dk1"/>
              </a:buClr>
              <a:buSzPts val="4200"/>
              <a:buNone/>
              <a:defRPr sz="900"/>
            </a:lvl6pPr>
            <a:lvl7pPr marL="3200400" lvl="6" indent="-228600" algn="l">
              <a:lnSpc>
                <a:spcPct val="100000"/>
              </a:lnSpc>
              <a:spcBef>
                <a:spcPts val="184"/>
              </a:spcBef>
              <a:spcAft>
                <a:spcPts val="0"/>
              </a:spcAft>
              <a:buClr>
                <a:schemeClr val="dk1"/>
              </a:buClr>
              <a:buSzPts val="4200"/>
              <a:buNone/>
              <a:defRPr sz="900"/>
            </a:lvl7pPr>
            <a:lvl8pPr marL="3657600" lvl="7" indent="-228600" algn="l">
              <a:lnSpc>
                <a:spcPct val="100000"/>
              </a:lnSpc>
              <a:spcBef>
                <a:spcPts val="184"/>
              </a:spcBef>
              <a:spcAft>
                <a:spcPts val="0"/>
              </a:spcAft>
              <a:buClr>
                <a:schemeClr val="dk1"/>
              </a:buClr>
              <a:buSzPts val="4200"/>
              <a:buNone/>
              <a:defRPr sz="900"/>
            </a:lvl8pPr>
            <a:lvl9pPr marL="4114800" lvl="8" indent="-228600" algn="l">
              <a:lnSpc>
                <a:spcPct val="100000"/>
              </a:lnSpc>
              <a:spcBef>
                <a:spcPts val="184"/>
              </a:spcBef>
              <a:spcAft>
                <a:spcPts val="0"/>
              </a:spcAft>
              <a:buClr>
                <a:schemeClr val="dk1"/>
              </a:buClr>
              <a:buSzPts val="4200"/>
              <a:buNone/>
              <a:defRPr sz="900"/>
            </a:lvl9pPr>
          </a:lstStyle>
          <a:p>
            <a:endParaRPr/>
          </a:p>
        </p:txBody>
      </p:sp>
      <p:sp>
        <p:nvSpPr>
          <p:cNvPr id="44" name="Google Shape;44;p24"/>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45" name="Google Shape;45;p24"/>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r>
              <a:rPr lang="en-US"/>
              <a:t>Department of Computer Science and Engineering</a:t>
            </a:r>
            <a:endParaRPr/>
          </a:p>
        </p:txBody>
      </p:sp>
      <p:sp>
        <p:nvSpPr>
          <p:cNvPr id="46" name="Google Shape;46;p24"/>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7"/>
        <p:cNvGrpSpPr/>
        <p:nvPr/>
      </p:nvGrpSpPr>
      <p:grpSpPr>
        <a:xfrm>
          <a:off x="0" y="0"/>
          <a:ext cx="0" cy="0"/>
          <a:chOff x="0" y="0"/>
          <a:chExt cx="0" cy="0"/>
        </a:xfrm>
      </p:grpSpPr>
      <p:sp>
        <p:nvSpPr>
          <p:cNvPr id="48" name="Google Shape;48;p25"/>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5"/>
          <p:cNvSpPr txBox="1">
            <a:spLocks noGrp="1"/>
          </p:cNvSpPr>
          <p:nvPr>
            <p:ph type="body" idx="1"/>
          </p:nvPr>
        </p:nvSpPr>
        <p:spPr>
          <a:xfrm rot="5400000">
            <a:off x="2874751" y="-1217399"/>
            <a:ext cx="3394500" cy="82296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79"/>
              </a:spcBef>
              <a:spcAft>
                <a:spcPts val="0"/>
              </a:spcAft>
              <a:buClr>
                <a:schemeClr val="dk1"/>
              </a:buClr>
              <a:buSzPts val="1800"/>
              <a:buChar char="•"/>
              <a:defRPr/>
            </a:lvl1pPr>
            <a:lvl2pPr marL="914400" lvl="1" indent="-342900" algn="l">
              <a:lnSpc>
                <a:spcPct val="100000"/>
              </a:lnSpc>
              <a:spcBef>
                <a:spcPts val="79"/>
              </a:spcBef>
              <a:spcAft>
                <a:spcPts val="0"/>
              </a:spcAft>
              <a:buClr>
                <a:schemeClr val="dk1"/>
              </a:buClr>
              <a:buSzPts val="1800"/>
              <a:buChar char="–"/>
              <a:defRPr/>
            </a:lvl2pPr>
            <a:lvl3pPr marL="1371600" lvl="2" indent="-342900" algn="l">
              <a:lnSpc>
                <a:spcPct val="100000"/>
              </a:lnSpc>
              <a:spcBef>
                <a:spcPts val="79"/>
              </a:spcBef>
              <a:spcAft>
                <a:spcPts val="0"/>
              </a:spcAft>
              <a:buClr>
                <a:schemeClr val="dk1"/>
              </a:buClr>
              <a:buSzPts val="1800"/>
              <a:buChar char="•"/>
              <a:defRPr/>
            </a:lvl3pPr>
            <a:lvl4pPr marL="1828800" lvl="3" indent="-342900" algn="l">
              <a:lnSpc>
                <a:spcPct val="100000"/>
              </a:lnSpc>
              <a:spcBef>
                <a:spcPts val="79"/>
              </a:spcBef>
              <a:spcAft>
                <a:spcPts val="0"/>
              </a:spcAft>
              <a:buClr>
                <a:schemeClr val="dk1"/>
              </a:buClr>
              <a:buSzPts val="1800"/>
              <a:buChar char="–"/>
              <a:defRPr/>
            </a:lvl4pPr>
            <a:lvl5pPr marL="2286000" lvl="4" indent="-342900" algn="l">
              <a:lnSpc>
                <a:spcPct val="100000"/>
              </a:lnSpc>
              <a:spcBef>
                <a:spcPts val="79"/>
              </a:spcBef>
              <a:spcAft>
                <a:spcPts val="0"/>
              </a:spcAft>
              <a:buClr>
                <a:schemeClr val="dk1"/>
              </a:buClr>
              <a:buSzPts val="1800"/>
              <a:buChar char="»"/>
              <a:defRPr/>
            </a:lvl5pPr>
            <a:lvl6pPr marL="2743200" lvl="5" indent="-342900" algn="l">
              <a:lnSpc>
                <a:spcPct val="100000"/>
              </a:lnSpc>
              <a:spcBef>
                <a:spcPts val="79"/>
              </a:spcBef>
              <a:spcAft>
                <a:spcPts val="0"/>
              </a:spcAft>
              <a:buClr>
                <a:schemeClr val="dk1"/>
              </a:buClr>
              <a:buSzPts val="1800"/>
              <a:buChar char="•"/>
              <a:defRPr/>
            </a:lvl6pPr>
            <a:lvl7pPr marL="3200400" lvl="6" indent="-342900" algn="l">
              <a:lnSpc>
                <a:spcPct val="100000"/>
              </a:lnSpc>
              <a:spcBef>
                <a:spcPts val="79"/>
              </a:spcBef>
              <a:spcAft>
                <a:spcPts val="0"/>
              </a:spcAft>
              <a:buClr>
                <a:schemeClr val="dk1"/>
              </a:buClr>
              <a:buSzPts val="1800"/>
              <a:buChar char="•"/>
              <a:defRPr/>
            </a:lvl7pPr>
            <a:lvl8pPr marL="3657600" lvl="7" indent="-342900" algn="l">
              <a:lnSpc>
                <a:spcPct val="100000"/>
              </a:lnSpc>
              <a:spcBef>
                <a:spcPts val="79"/>
              </a:spcBef>
              <a:spcAft>
                <a:spcPts val="0"/>
              </a:spcAft>
              <a:buClr>
                <a:schemeClr val="dk1"/>
              </a:buClr>
              <a:buSzPts val="1800"/>
              <a:buChar char="•"/>
              <a:defRPr/>
            </a:lvl8pPr>
            <a:lvl9pPr marL="4114800" lvl="8" indent="-342900" algn="l">
              <a:lnSpc>
                <a:spcPct val="100000"/>
              </a:lnSpc>
              <a:spcBef>
                <a:spcPts val="79"/>
              </a:spcBef>
              <a:spcAft>
                <a:spcPts val="0"/>
              </a:spcAft>
              <a:buClr>
                <a:schemeClr val="dk1"/>
              </a:buClr>
              <a:buSzPts val="1800"/>
              <a:buChar char="•"/>
              <a:defRPr/>
            </a:lvl9pPr>
          </a:lstStyle>
          <a:p>
            <a:endParaRPr/>
          </a:p>
        </p:txBody>
      </p:sp>
      <p:sp>
        <p:nvSpPr>
          <p:cNvPr id="50" name="Google Shape;50;p25"/>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51" name="Google Shape;51;p25"/>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r>
              <a:rPr lang="en-US"/>
              <a:t>Department of Computer Science and Engineering</a:t>
            </a:r>
            <a:endParaRPr/>
          </a:p>
        </p:txBody>
      </p:sp>
      <p:sp>
        <p:nvSpPr>
          <p:cNvPr id="52" name="Google Shape;52;p25"/>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3"/>
        <p:cNvGrpSpPr/>
        <p:nvPr/>
      </p:nvGrpSpPr>
      <p:grpSpPr>
        <a:xfrm>
          <a:off x="0" y="0"/>
          <a:ext cx="0" cy="0"/>
          <a:chOff x="0" y="0"/>
          <a:chExt cx="0" cy="0"/>
        </a:xfrm>
      </p:grpSpPr>
      <p:sp>
        <p:nvSpPr>
          <p:cNvPr id="54" name="Google Shape;54;p26"/>
          <p:cNvSpPr txBox="1">
            <a:spLocks noGrp="1"/>
          </p:cNvSpPr>
          <p:nvPr>
            <p:ph type="title"/>
          </p:nvPr>
        </p:nvSpPr>
        <p:spPr>
          <a:xfrm rot="5400000">
            <a:off x="5463751" y="1371630"/>
            <a:ext cx="4388700" cy="20574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6"/>
          <p:cNvSpPr txBox="1">
            <a:spLocks noGrp="1"/>
          </p:cNvSpPr>
          <p:nvPr>
            <p:ph type="body" idx="1"/>
          </p:nvPr>
        </p:nvSpPr>
        <p:spPr>
          <a:xfrm rot="5400000">
            <a:off x="1272750" y="-609570"/>
            <a:ext cx="4388700" cy="6019800"/>
          </a:xfrm>
          <a:prstGeom prst="rect">
            <a:avLst/>
          </a:prstGeom>
          <a:noFill/>
          <a:ln>
            <a:noFill/>
          </a:ln>
        </p:spPr>
        <p:txBody>
          <a:bodyPr spcFirstLastPara="1" wrap="square" lIns="94100" tIns="47025" rIns="94100" bIns="47025" anchor="t" anchorCtr="0">
            <a:noAutofit/>
          </a:bodyPr>
          <a:lstStyle>
            <a:lvl1pPr marL="457200" lvl="0" indent="-342900" algn="l">
              <a:lnSpc>
                <a:spcPct val="100000"/>
              </a:lnSpc>
              <a:spcBef>
                <a:spcPts val="79"/>
              </a:spcBef>
              <a:spcAft>
                <a:spcPts val="0"/>
              </a:spcAft>
              <a:buClr>
                <a:schemeClr val="dk1"/>
              </a:buClr>
              <a:buSzPts val="1800"/>
              <a:buChar char="•"/>
              <a:defRPr/>
            </a:lvl1pPr>
            <a:lvl2pPr marL="914400" lvl="1" indent="-342900" algn="l">
              <a:lnSpc>
                <a:spcPct val="100000"/>
              </a:lnSpc>
              <a:spcBef>
                <a:spcPts val="79"/>
              </a:spcBef>
              <a:spcAft>
                <a:spcPts val="0"/>
              </a:spcAft>
              <a:buClr>
                <a:schemeClr val="dk1"/>
              </a:buClr>
              <a:buSzPts val="1800"/>
              <a:buChar char="–"/>
              <a:defRPr/>
            </a:lvl2pPr>
            <a:lvl3pPr marL="1371600" lvl="2" indent="-342900" algn="l">
              <a:lnSpc>
                <a:spcPct val="100000"/>
              </a:lnSpc>
              <a:spcBef>
                <a:spcPts val="79"/>
              </a:spcBef>
              <a:spcAft>
                <a:spcPts val="0"/>
              </a:spcAft>
              <a:buClr>
                <a:schemeClr val="dk1"/>
              </a:buClr>
              <a:buSzPts val="1800"/>
              <a:buChar char="•"/>
              <a:defRPr/>
            </a:lvl3pPr>
            <a:lvl4pPr marL="1828800" lvl="3" indent="-342900" algn="l">
              <a:lnSpc>
                <a:spcPct val="100000"/>
              </a:lnSpc>
              <a:spcBef>
                <a:spcPts val="79"/>
              </a:spcBef>
              <a:spcAft>
                <a:spcPts val="0"/>
              </a:spcAft>
              <a:buClr>
                <a:schemeClr val="dk1"/>
              </a:buClr>
              <a:buSzPts val="1800"/>
              <a:buChar char="–"/>
              <a:defRPr/>
            </a:lvl4pPr>
            <a:lvl5pPr marL="2286000" lvl="4" indent="-342900" algn="l">
              <a:lnSpc>
                <a:spcPct val="100000"/>
              </a:lnSpc>
              <a:spcBef>
                <a:spcPts val="79"/>
              </a:spcBef>
              <a:spcAft>
                <a:spcPts val="0"/>
              </a:spcAft>
              <a:buClr>
                <a:schemeClr val="dk1"/>
              </a:buClr>
              <a:buSzPts val="1800"/>
              <a:buChar char="»"/>
              <a:defRPr/>
            </a:lvl5pPr>
            <a:lvl6pPr marL="2743200" lvl="5" indent="-342900" algn="l">
              <a:lnSpc>
                <a:spcPct val="100000"/>
              </a:lnSpc>
              <a:spcBef>
                <a:spcPts val="79"/>
              </a:spcBef>
              <a:spcAft>
                <a:spcPts val="0"/>
              </a:spcAft>
              <a:buClr>
                <a:schemeClr val="dk1"/>
              </a:buClr>
              <a:buSzPts val="1800"/>
              <a:buChar char="•"/>
              <a:defRPr/>
            </a:lvl6pPr>
            <a:lvl7pPr marL="3200400" lvl="6" indent="-342900" algn="l">
              <a:lnSpc>
                <a:spcPct val="100000"/>
              </a:lnSpc>
              <a:spcBef>
                <a:spcPts val="79"/>
              </a:spcBef>
              <a:spcAft>
                <a:spcPts val="0"/>
              </a:spcAft>
              <a:buClr>
                <a:schemeClr val="dk1"/>
              </a:buClr>
              <a:buSzPts val="1800"/>
              <a:buChar char="•"/>
              <a:defRPr/>
            </a:lvl7pPr>
            <a:lvl8pPr marL="3657600" lvl="7" indent="-342900" algn="l">
              <a:lnSpc>
                <a:spcPct val="100000"/>
              </a:lnSpc>
              <a:spcBef>
                <a:spcPts val="79"/>
              </a:spcBef>
              <a:spcAft>
                <a:spcPts val="0"/>
              </a:spcAft>
              <a:buClr>
                <a:schemeClr val="dk1"/>
              </a:buClr>
              <a:buSzPts val="1800"/>
              <a:buChar char="•"/>
              <a:defRPr/>
            </a:lvl8pPr>
            <a:lvl9pPr marL="4114800" lvl="8" indent="-342900" algn="l">
              <a:lnSpc>
                <a:spcPct val="100000"/>
              </a:lnSpc>
              <a:spcBef>
                <a:spcPts val="79"/>
              </a:spcBef>
              <a:spcAft>
                <a:spcPts val="0"/>
              </a:spcAft>
              <a:buClr>
                <a:schemeClr val="dk1"/>
              </a:buClr>
              <a:buSzPts val="1800"/>
              <a:buChar char="•"/>
              <a:defRPr/>
            </a:lvl9pPr>
          </a:lstStyle>
          <a:p>
            <a:endParaRPr/>
          </a:p>
        </p:txBody>
      </p:sp>
      <p:sp>
        <p:nvSpPr>
          <p:cNvPr id="56" name="Google Shape;56;p26"/>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57" name="Google Shape;57;p26"/>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r>
              <a:rPr lang="en-US"/>
              <a:t>Department of Computer Science and Engineering</a:t>
            </a:r>
            <a:endParaRPr/>
          </a:p>
        </p:txBody>
      </p:sp>
      <p:sp>
        <p:nvSpPr>
          <p:cNvPr id="58" name="Google Shape;58;p26"/>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7">
            <a:alphaModFix/>
          </a:blip>
          <a:stretch>
            <a:fillRect/>
          </a:stretch>
        </a:blip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457200" y="205978"/>
            <a:ext cx="8229600" cy="8574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chemeClr val="dk1"/>
              </a:buClr>
              <a:buSzPts val="20700"/>
              <a:buFont typeface="Calibri"/>
              <a:buNone/>
              <a:defRPr sz="207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457200" y="1200152"/>
            <a:ext cx="8229600" cy="3394500"/>
          </a:xfrm>
          <a:prstGeom prst="rect">
            <a:avLst/>
          </a:prstGeom>
          <a:noFill/>
          <a:ln>
            <a:noFill/>
          </a:ln>
        </p:spPr>
        <p:txBody>
          <a:bodyPr spcFirstLastPara="1" wrap="square" lIns="94100" tIns="47025" rIns="94100" bIns="47025" anchor="t" anchorCtr="0">
            <a:noAutofit/>
          </a:bodyPr>
          <a:lstStyle>
            <a:lvl1pPr marL="457200" marR="0" lvl="0" indent="-1187450" algn="l" rtl="0">
              <a:lnSpc>
                <a:spcPct val="100000"/>
              </a:lnSpc>
              <a:spcBef>
                <a:spcPts val="3020"/>
              </a:spcBef>
              <a:spcAft>
                <a:spcPts val="0"/>
              </a:spcAft>
              <a:buClr>
                <a:schemeClr val="dk1"/>
              </a:buClr>
              <a:buSzPts val="15100"/>
              <a:buFont typeface="Arial"/>
              <a:buChar char="•"/>
              <a:defRPr sz="15100" b="0" i="0" u="none" strike="noStrike" cap="none">
                <a:solidFill>
                  <a:schemeClr val="dk1"/>
                </a:solidFill>
                <a:latin typeface="Calibri"/>
                <a:ea typeface="Calibri"/>
                <a:cs typeface="Calibri"/>
                <a:sym typeface="Calibri"/>
              </a:defRPr>
            </a:lvl1pPr>
            <a:lvl2pPr marL="914400" marR="0" lvl="1"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Calibri"/>
                <a:ea typeface="Calibri"/>
                <a:cs typeface="Calibri"/>
                <a:sym typeface="Calibri"/>
              </a:defRPr>
            </a:lvl2pPr>
            <a:lvl3pPr marL="1371600" marR="0" lvl="2" indent="-946150" algn="l" rtl="0">
              <a:lnSpc>
                <a:spcPct val="100000"/>
              </a:lnSpc>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4pPr>
            <a:lvl5pPr marL="2286000" marR="0" lvl="4"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5pPr>
            <a:lvl6pPr marL="2743200" marR="0" lvl="5"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6pPr>
            <a:lvl7pPr marL="3200400" marR="0" lvl="6"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7pPr>
            <a:lvl8pPr marL="3657600" marR="0" lvl="7"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8pPr>
            <a:lvl9pPr marL="4114800" marR="0" lvl="8" indent="-825500" algn="l" rtl="0">
              <a:lnSpc>
                <a:spcPct val="100000"/>
              </a:lnSpc>
              <a:spcBef>
                <a:spcPts val="1880"/>
              </a:spcBef>
              <a:spcAft>
                <a:spcPts val="0"/>
              </a:spcAft>
              <a:buClr>
                <a:schemeClr val="dk1"/>
              </a:buClr>
              <a:buSzPts val="9400"/>
              <a:buFont typeface="Arial"/>
              <a:buChar char="•"/>
              <a:defRPr sz="94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457200" y="4767264"/>
            <a:ext cx="2133600" cy="273900"/>
          </a:xfrm>
          <a:prstGeom prst="rect">
            <a:avLst/>
          </a:prstGeom>
          <a:noFill/>
          <a:ln>
            <a:noFill/>
          </a:ln>
        </p:spPr>
        <p:txBody>
          <a:bodyPr spcFirstLastPara="1" wrap="square" lIns="94100" tIns="47025" rIns="94100" bIns="47025"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3124200" y="4767264"/>
            <a:ext cx="2895600" cy="273900"/>
          </a:xfrm>
          <a:prstGeom prst="rect">
            <a:avLst/>
          </a:prstGeom>
          <a:noFill/>
          <a:ln>
            <a:noFill/>
          </a:ln>
        </p:spPr>
        <p:txBody>
          <a:bodyPr spcFirstLastPara="1" wrap="square" lIns="94100" tIns="47025" rIns="94100" bIns="47025"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900" b="0" i="0" u="none" strike="noStrike" cap="none">
                <a:solidFill>
                  <a:schemeClr val="dk1"/>
                </a:solidFill>
                <a:latin typeface="Calibri"/>
                <a:ea typeface="Calibri"/>
                <a:cs typeface="Calibri"/>
                <a:sym typeface="Calibri"/>
              </a:defRPr>
            </a:lvl9pPr>
          </a:lstStyle>
          <a:p>
            <a:r>
              <a:rPr lang="en-US"/>
              <a:t>Department of Computer Science and Engineering</a:t>
            </a:r>
            <a:endParaRPr/>
          </a:p>
        </p:txBody>
      </p:sp>
      <p:sp>
        <p:nvSpPr>
          <p:cNvPr id="10" name="Google Shape;10;p19"/>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52756/ijerr.2023.v32.028" TargetMode="External"/><Relationship Id="rId7" Type="http://schemas.openxmlformats.org/officeDocument/2006/relationships/hyperlink" Target="https://doi.org/10.13052/jwe1540-9589.2281"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doi.org/10.1051/shsconf/202111907004" TargetMode="External"/><Relationship Id="rId5" Type="http://schemas.openxmlformats.org/officeDocument/2006/relationships/hyperlink" Target="http://dx.doi.org/10.9781/ijimai.2024.05.001" TargetMode="External"/><Relationship Id="rId4" Type="http://schemas.openxmlformats.org/officeDocument/2006/relationships/hyperlink" Target="https://doi.org/10.1007/s11704-022-2193-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1"/>
          <p:cNvSpPr txBox="1">
            <a:spLocks noGrp="1"/>
          </p:cNvSpPr>
          <p:nvPr>
            <p:ph type="body" idx="1"/>
          </p:nvPr>
        </p:nvSpPr>
        <p:spPr>
          <a:xfrm>
            <a:off x="642938" y="2196703"/>
            <a:ext cx="7815262" cy="2661047"/>
          </a:xfrm>
          <a:prstGeom prst="rect">
            <a:avLst/>
          </a:prstGeom>
          <a:noFill/>
          <a:ln>
            <a:noFill/>
          </a:ln>
        </p:spPr>
        <p:txBody>
          <a:bodyPr spcFirstLastPara="1" wrap="square" lIns="94100" tIns="47025" rIns="94100" bIns="47025" anchor="t" anchorCtr="0">
            <a:noAutofit/>
          </a:bodyPr>
          <a:lstStyle/>
          <a:p>
            <a:pPr marL="0" lvl="0" indent="0" algn="l" rtl="0">
              <a:lnSpc>
                <a:spcPct val="100000"/>
              </a:lnSpc>
              <a:spcBef>
                <a:spcPts val="3020"/>
              </a:spcBef>
              <a:spcAft>
                <a:spcPts val="0"/>
              </a:spcAft>
              <a:buSzPts val="15100"/>
              <a:buNone/>
            </a:pPr>
            <a:endParaRPr dirty="0"/>
          </a:p>
          <a:p>
            <a:pPr marL="457200" lvl="0" indent="501650" algn="l" rtl="0">
              <a:lnSpc>
                <a:spcPct val="100000"/>
              </a:lnSpc>
              <a:spcBef>
                <a:spcPts val="3020"/>
              </a:spcBef>
              <a:spcAft>
                <a:spcPts val="0"/>
              </a:spcAft>
              <a:buSzPts val="15100"/>
              <a:buNone/>
            </a:pPr>
            <a:endParaRPr dirty="0"/>
          </a:p>
        </p:txBody>
      </p:sp>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a:ea typeface="Trebuchet MS"/>
              <a:cs typeface="Trebuchet MS"/>
              <a:sym typeface="Trebuchet MS"/>
            </a:endParaRPr>
          </a:p>
        </p:txBody>
      </p:sp>
      <p:sp>
        <p:nvSpPr>
          <p:cNvPr id="2" name="Title 1"/>
          <p:cNvSpPr>
            <a:spLocks noGrp="1"/>
          </p:cNvSpPr>
          <p:nvPr>
            <p:ph type="title"/>
          </p:nvPr>
        </p:nvSpPr>
        <p:spPr>
          <a:xfrm>
            <a:off x="456631" y="857522"/>
            <a:ext cx="8229600" cy="857400"/>
          </a:xfrm>
        </p:spPr>
        <p:txBody>
          <a:bodyPr/>
          <a:lstStyle/>
          <a:p>
            <a:r>
              <a:rPr lang="en-US" sz="1800" dirty="0">
                <a:latin typeface="Bookman Old Style"/>
              </a:rPr>
              <a:t>Cloud-Based Certificate Verification System Using DNA Cryptography</a:t>
            </a:r>
          </a:p>
        </p:txBody>
      </p:sp>
      <p:sp>
        <p:nvSpPr>
          <p:cNvPr id="3" name="TextBox 2"/>
          <p:cNvSpPr txBox="1"/>
          <p:nvPr/>
        </p:nvSpPr>
        <p:spPr>
          <a:xfrm>
            <a:off x="443299" y="2196095"/>
            <a:ext cx="4897474" cy="1785104"/>
          </a:xfrm>
          <a:prstGeom prst="rect">
            <a:avLst/>
          </a:prstGeom>
          <a:noFill/>
        </p:spPr>
        <p:txBody>
          <a:bodyPr wrap="square" lIns="91440" tIns="45720" rIns="91440" bIns="45720" rtlCol="0" anchor="t">
            <a:spAutoFit/>
          </a:bodyPr>
          <a:lstStyle/>
          <a:p>
            <a:r>
              <a:rPr lang="en-US" sz="2000" b="1" dirty="0">
                <a:latin typeface="Bookman Old Style"/>
              </a:rPr>
              <a:t>Team Details:</a:t>
            </a:r>
          </a:p>
          <a:p>
            <a:endParaRPr lang="en-US" sz="2000" b="1" dirty="0">
              <a:latin typeface="Bookman Old Style"/>
            </a:endParaRPr>
          </a:p>
          <a:p>
            <a:r>
              <a:rPr lang="en-US" dirty="0"/>
              <a:t>1.G. Likhitha Reddy (22EG105J33)</a:t>
            </a:r>
          </a:p>
          <a:p>
            <a:r>
              <a:rPr lang="en-US" dirty="0"/>
              <a:t>2.V. Nithin Raj (22EG105J35)</a:t>
            </a:r>
          </a:p>
          <a:p>
            <a:r>
              <a:rPr lang="en-US" dirty="0"/>
              <a:t>3. M. Shiva (22EG105J38 )</a:t>
            </a:r>
          </a:p>
          <a:p>
            <a:r>
              <a:rPr lang="en-IN" dirty="0"/>
              <a:t>4. K. Santhosh Reddy (22EG105J39)</a:t>
            </a:r>
          </a:p>
          <a:p>
            <a:endParaRPr lang="en-US" dirty="0">
              <a:latin typeface="Bookman Old Style" panose="02050604050505020204" pitchFamily="18" charset="0"/>
            </a:endParaRPr>
          </a:p>
        </p:txBody>
      </p:sp>
      <p:sp>
        <p:nvSpPr>
          <p:cNvPr id="8" name="TextBox 7"/>
          <p:cNvSpPr txBox="1"/>
          <p:nvPr/>
        </p:nvSpPr>
        <p:spPr>
          <a:xfrm>
            <a:off x="6119693" y="2194521"/>
            <a:ext cx="2070599" cy="1569660"/>
          </a:xfrm>
          <a:prstGeom prst="rect">
            <a:avLst/>
          </a:prstGeom>
          <a:noFill/>
        </p:spPr>
        <p:txBody>
          <a:bodyPr wrap="square" lIns="91440" tIns="45720" rIns="91440" bIns="45720" rtlCol="0" anchor="t">
            <a:spAutoFit/>
          </a:bodyPr>
          <a:lstStyle/>
          <a:p>
            <a:r>
              <a:rPr lang="en-US" sz="2000" b="1" dirty="0">
                <a:latin typeface="Bookman Old Style"/>
              </a:rPr>
              <a:t>Project Guide:</a:t>
            </a:r>
          </a:p>
          <a:p>
            <a:endParaRPr lang="en-US" sz="2000" b="1" dirty="0">
              <a:latin typeface="Bookman Old Style" panose="02050604050505020204" pitchFamily="18" charset="0"/>
            </a:endParaRPr>
          </a:p>
          <a:p>
            <a:r>
              <a:rPr lang="en-US" dirty="0">
                <a:latin typeface="Bookman Old Style"/>
              </a:rPr>
              <a:t>Mrs. E. Harika </a:t>
            </a:r>
            <a:endParaRPr lang="en-US" dirty="0">
              <a:latin typeface="Bookman Old Style" panose="02050604050505020204" pitchFamily="18" charset="0"/>
            </a:endParaRPr>
          </a:p>
          <a:p>
            <a:r>
              <a:rPr lang="en-US" dirty="0">
                <a:latin typeface="Bookman Old Style"/>
              </a:rPr>
              <a:t>Associate Professor</a:t>
            </a:r>
            <a:endParaRPr lang="en-US" dirty="0">
              <a:latin typeface="Bookman Old Style" panose="02050604050505020204" pitchFamily="18" charset="0"/>
            </a:endParaRPr>
          </a:p>
          <a:p>
            <a:r>
              <a:rPr lang="en-US" dirty="0">
                <a:latin typeface="Bookman Old Style"/>
              </a:rPr>
              <a:t>Department of CSE</a:t>
            </a:r>
          </a:p>
          <a:p>
            <a:endParaRPr lang="en-US" dirty="0">
              <a:latin typeface="Bookman Old Style" panose="02050604050505020204" pitchFamily="18" charset="0"/>
            </a:endParaRPr>
          </a:p>
        </p:txBody>
      </p:sp>
      <p:sp>
        <p:nvSpPr>
          <p:cNvPr id="5" name="Footer Placeholder 4"/>
          <p:cNvSpPr>
            <a:spLocks noGrp="1"/>
          </p:cNvSpPr>
          <p:nvPr>
            <p:ph type="ftr" idx="11"/>
          </p:nvPr>
        </p:nvSpPr>
        <p:spPr>
          <a:xfrm>
            <a:off x="2892036" y="4630314"/>
            <a:ext cx="3429000" cy="273900"/>
          </a:xfrm>
        </p:spPr>
        <p:txBody>
          <a:bodyPr/>
          <a:lstStyle/>
          <a:p>
            <a:r>
              <a:rPr lang="en-US" dirty="0"/>
              <a:t>Department of Computer Science and Engineering</a:t>
            </a:r>
          </a:p>
        </p:txBody>
      </p:sp>
      <p:sp>
        <p:nvSpPr>
          <p:cNvPr id="6" name="TextBox 5">
            <a:extLst>
              <a:ext uri="{FF2B5EF4-FFF2-40B4-BE49-F238E27FC236}">
                <a16:creationId xmlns:a16="http://schemas.microsoft.com/office/drawing/2014/main" id="{BC4E1485-DE3D-4417-DE02-7E36C893A537}"/>
              </a:ext>
            </a:extLst>
          </p:cNvPr>
          <p:cNvSpPr txBox="1"/>
          <p:nvPr/>
        </p:nvSpPr>
        <p:spPr>
          <a:xfrm>
            <a:off x="2287587" y="550635"/>
            <a:ext cx="40322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IV BTECH CSE-J TEAM –9 MAJOR PROJECT </a:t>
            </a:r>
          </a:p>
        </p:txBody>
      </p:sp>
      <p:sp>
        <p:nvSpPr>
          <p:cNvPr id="7" name="TextBox 6">
            <a:extLst>
              <a:ext uri="{FF2B5EF4-FFF2-40B4-BE49-F238E27FC236}">
                <a16:creationId xmlns:a16="http://schemas.microsoft.com/office/drawing/2014/main" id="{86572BAE-16B9-BC1B-EFAE-4C519F6DC225}"/>
              </a:ext>
            </a:extLst>
          </p:cNvPr>
          <p:cNvSpPr txBox="1"/>
          <p:nvPr/>
        </p:nvSpPr>
        <p:spPr>
          <a:xfrm>
            <a:off x="345186" y="4642698"/>
            <a:ext cx="1108710" cy="276999"/>
          </a:xfrm>
          <a:prstGeom prst="rect">
            <a:avLst/>
          </a:prstGeom>
          <a:noFill/>
        </p:spPr>
        <p:txBody>
          <a:bodyPr wrap="square">
            <a:spAutoFit/>
          </a:bodyPr>
          <a:lstStyle/>
          <a:p>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21.12.2024</a:t>
            </a:r>
            <a:endParaRPr lang="en-IN"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2930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E85107-A23F-B68F-1374-BE13F80673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9" name="TextBox 8">
            <a:extLst>
              <a:ext uri="{FF2B5EF4-FFF2-40B4-BE49-F238E27FC236}">
                <a16:creationId xmlns:a16="http://schemas.microsoft.com/office/drawing/2014/main" id="{E3193C18-5CF7-A09E-1090-D7312CB85E82}"/>
              </a:ext>
            </a:extLst>
          </p:cNvPr>
          <p:cNvSpPr txBox="1"/>
          <p:nvPr/>
        </p:nvSpPr>
        <p:spPr>
          <a:xfrm>
            <a:off x="817756" y="1185724"/>
            <a:ext cx="7040137" cy="3539430"/>
          </a:xfrm>
          <a:prstGeom prst="rect">
            <a:avLst/>
          </a:prstGeom>
          <a:noFill/>
        </p:spPr>
        <p:txBody>
          <a:bodyPr wrap="square">
            <a:spAutoFit/>
          </a:bodyPr>
          <a:lstStyle/>
          <a:p>
            <a:pPr algn="l">
              <a:buNone/>
            </a:pPr>
            <a:r>
              <a:rPr lang="en-US" b="0" i="0" dirty="0">
                <a:solidFill>
                  <a:srgbClr val="1D1D1F"/>
                </a:solidFill>
                <a:effectLst/>
                <a:latin typeface="system-ui"/>
              </a:rPr>
              <a:t>	In the digital era, the authenticity and integrity of academic and professional certificates are frequently compromised due to forgery and tampering. Traditional cryptographic methods (e.g., RSA, AES) offer security but are increasingly vulnerable to quantum computing attacks. To address this, we propose a </a:t>
            </a:r>
            <a:r>
              <a:rPr lang="en-US" b="1" i="0" dirty="0">
                <a:solidFill>
                  <a:srgbClr val="1D1D1F"/>
                </a:solidFill>
                <a:effectLst/>
                <a:latin typeface="system-ui"/>
              </a:rPr>
              <a:t>Cloud-Based Certificate Verification System Using DNA Cryptography</a:t>
            </a:r>
            <a:r>
              <a:rPr lang="en-US" b="0" i="0" dirty="0">
                <a:solidFill>
                  <a:srgbClr val="1D1D1F"/>
                </a:solidFill>
                <a:effectLst/>
                <a:latin typeface="system-ui"/>
              </a:rPr>
              <a:t>—a novel approach that encodes certificate data into synthetic DNA sequences (using nucleotide bases: A, T, C, G) for ultra-secure, high-density, and biologically inspired encryption.</a:t>
            </a:r>
          </a:p>
          <a:p>
            <a:pPr algn="l">
              <a:buNone/>
            </a:pPr>
            <a:endParaRPr lang="en-US" b="0" i="0" dirty="0">
              <a:solidFill>
                <a:srgbClr val="1D1D1F"/>
              </a:solidFill>
              <a:effectLst/>
              <a:latin typeface="system-ui"/>
            </a:endParaRPr>
          </a:p>
          <a:p>
            <a:pPr algn="l">
              <a:buNone/>
            </a:pPr>
            <a:r>
              <a:rPr lang="en-US" b="0" i="0" dirty="0">
                <a:solidFill>
                  <a:srgbClr val="1D1D1F"/>
                </a:solidFill>
                <a:effectLst/>
                <a:latin typeface="system-ui"/>
              </a:rPr>
              <a:t>	This system leverages the </a:t>
            </a:r>
            <a:r>
              <a:rPr lang="en-US" b="1" i="0" dirty="0">
                <a:solidFill>
                  <a:srgbClr val="1D1D1F"/>
                </a:solidFill>
                <a:effectLst/>
                <a:latin typeface="system-ui"/>
              </a:rPr>
              <a:t>massive parallelism</a:t>
            </a:r>
            <a:r>
              <a:rPr lang="en-US" b="0" i="0" dirty="0">
                <a:solidFill>
                  <a:srgbClr val="1D1D1F"/>
                </a:solidFill>
                <a:effectLst/>
                <a:latin typeface="system-ui"/>
              </a:rPr>
              <a:t>, </a:t>
            </a:r>
            <a:r>
              <a:rPr lang="en-US" b="1" i="0" dirty="0">
                <a:solidFill>
                  <a:srgbClr val="1D1D1F"/>
                </a:solidFill>
                <a:effectLst/>
                <a:latin typeface="system-ui"/>
              </a:rPr>
              <a:t>high storage density</a:t>
            </a:r>
            <a:r>
              <a:rPr lang="en-US" b="0" i="0" dirty="0">
                <a:solidFill>
                  <a:srgbClr val="1D1D1F"/>
                </a:solidFill>
                <a:effectLst/>
                <a:latin typeface="system-ui"/>
              </a:rPr>
              <a:t>, and </a:t>
            </a:r>
            <a:r>
              <a:rPr lang="en-US" b="1" i="0" dirty="0">
                <a:solidFill>
                  <a:srgbClr val="1D1D1F"/>
                </a:solidFill>
                <a:effectLst/>
                <a:latin typeface="system-ui"/>
              </a:rPr>
              <a:t>computational complexity</a:t>
            </a:r>
            <a:r>
              <a:rPr lang="en-US" b="0" i="0" dirty="0">
                <a:solidFill>
                  <a:srgbClr val="1D1D1F"/>
                </a:solidFill>
                <a:effectLst/>
                <a:latin typeface="system-ui"/>
              </a:rPr>
              <a:t> of DNA to ensure tamper-proof certificates. Users upload certificates to a secure cloud platform, where they are encrypted using a DNA-based algorithm. Verification is performed by reverse-translating the DNA strand and comparing it with the original hash. Applications include academic credential verification, professional licensing, and government-issued document authentication.</a:t>
            </a:r>
          </a:p>
          <a:p>
            <a:pPr>
              <a:buNone/>
            </a:pPr>
            <a:br>
              <a:rPr lang="en-US" dirty="0"/>
            </a:br>
            <a:endParaRPr lang="en-IN" dirty="0"/>
          </a:p>
        </p:txBody>
      </p:sp>
      <p:sp>
        <p:nvSpPr>
          <p:cNvPr id="10" name="TextBox 9">
            <a:extLst>
              <a:ext uri="{FF2B5EF4-FFF2-40B4-BE49-F238E27FC236}">
                <a16:creationId xmlns:a16="http://schemas.microsoft.com/office/drawing/2014/main" id="{1550F609-5E85-2FED-D274-6DF67627C80E}"/>
              </a:ext>
            </a:extLst>
          </p:cNvPr>
          <p:cNvSpPr txBox="1"/>
          <p:nvPr/>
        </p:nvSpPr>
        <p:spPr>
          <a:xfrm>
            <a:off x="2821258" y="187513"/>
            <a:ext cx="3033132" cy="461665"/>
          </a:xfrm>
          <a:prstGeom prst="rect">
            <a:avLst/>
          </a:prstGeom>
          <a:noFill/>
        </p:spPr>
        <p:txBody>
          <a:bodyPr wrap="square" rtlCol="0">
            <a:spAutoFit/>
          </a:bodyPr>
          <a:lstStyle/>
          <a:p>
            <a:pPr algn="ctr"/>
            <a:r>
              <a:rPr lang="en-IN" sz="2400" b="1" dirty="0"/>
              <a:t>Introduction</a:t>
            </a:r>
          </a:p>
        </p:txBody>
      </p:sp>
      <p:sp>
        <p:nvSpPr>
          <p:cNvPr id="11" name="TextBox 10">
            <a:extLst>
              <a:ext uri="{FF2B5EF4-FFF2-40B4-BE49-F238E27FC236}">
                <a16:creationId xmlns:a16="http://schemas.microsoft.com/office/drawing/2014/main" id="{9BF422E4-9D31-F8DA-A3E0-A6826B3A5C79}"/>
              </a:ext>
            </a:extLst>
          </p:cNvPr>
          <p:cNvSpPr txBox="1"/>
          <p:nvPr/>
        </p:nvSpPr>
        <p:spPr>
          <a:xfrm>
            <a:off x="345186" y="4767265"/>
            <a:ext cx="1108710" cy="276999"/>
          </a:xfrm>
          <a:prstGeom prst="rect">
            <a:avLst/>
          </a:prstGeom>
          <a:noFill/>
        </p:spPr>
        <p:txBody>
          <a:bodyPr wrap="square">
            <a:spAutoFit/>
          </a:bodyPr>
          <a:lstStyle/>
          <a:p>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21.12.2024</a:t>
            </a:r>
            <a:endParaRPr lang="en-IN"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Footer Placeholder 5">
            <a:extLst>
              <a:ext uri="{FF2B5EF4-FFF2-40B4-BE49-F238E27FC236}">
                <a16:creationId xmlns:a16="http://schemas.microsoft.com/office/drawing/2014/main" id="{2A929B22-2D12-073D-19AA-B0C04AC8AD15}"/>
              </a:ext>
            </a:extLst>
          </p:cNvPr>
          <p:cNvSpPr>
            <a:spLocks noGrp="1"/>
          </p:cNvSpPr>
          <p:nvPr>
            <p:ph type="ftr" idx="11"/>
          </p:nvPr>
        </p:nvSpPr>
        <p:spPr>
          <a:xfrm>
            <a:off x="2671572" y="4789308"/>
            <a:ext cx="3800856" cy="186778"/>
          </a:xfrm>
        </p:spPr>
        <p:txBody>
          <a:bodyPr/>
          <a:lstStyle/>
          <a:p>
            <a:r>
              <a:rPr lang="en-US" dirty="0"/>
              <a:t>Department of Computer Science and Engineering</a:t>
            </a:r>
          </a:p>
        </p:txBody>
      </p:sp>
    </p:spTree>
    <p:extLst>
      <p:ext uri="{BB962C8B-B14F-4D97-AF65-F5344CB8AC3E}">
        <p14:creationId xmlns:p14="http://schemas.microsoft.com/office/powerpoint/2010/main" val="3335183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020A01A-03F4-20C5-B4E1-43E351CB15DA}"/>
              </a:ext>
            </a:extLst>
          </p:cNvPr>
          <p:cNvGraphicFramePr>
            <a:graphicFrameLocks noGrp="1"/>
          </p:cNvGraphicFramePr>
          <p:nvPr>
            <p:extLst>
              <p:ext uri="{D42A27DB-BD31-4B8C-83A1-F6EECF244321}">
                <p14:modId xmlns:p14="http://schemas.microsoft.com/office/powerpoint/2010/main" val="662719788"/>
              </p:ext>
            </p:extLst>
          </p:nvPr>
        </p:nvGraphicFramePr>
        <p:xfrm>
          <a:off x="0" y="1885950"/>
          <a:ext cx="9144000" cy="2861930"/>
        </p:xfrm>
        <a:graphic>
          <a:graphicData uri="http://schemas.openxmlformats.org/drawingml/2006/table">
            <a:tbl>
              <a:tblPr bandRow="1">
                <a:tableStyleId>{1D3205E1-8B83-452B-8570-0B3C4014EAE2}</a:tableStyleId>
              </a:tblPr>
              <a:tblGrid>
                <a:gridCol w="2286000">
                  <a:extLst>
                    <a:ext uri="{9D8B030D-6E8A-4147-A177-3AD203B41FA5}">
                      <a16:colId xmlns:a16="http://schemas.microsoft.com/office/drawing/2014/main" val="783936704"/>
                    </a:ext>
                  </a:extLst>
                </a:gridCol>
                <a:gridCol w="2286000">
                  <a:extLst>
                    <a:ext uri="{9D8B030D-6E8A-4147-A177-3AD203B41FA5}">
                      <a16:colId xmlns:a16="http://schemas.microsoft.com/office/drawing/2014/main" val="850770741"/>
                    </a:ext>
                  </a:extLst>
                </a:gridCol>
                <a:gridCol w="2286000">
                  <a:extLst>
                    <a:ext uri="{9D8B030D-6E8A-4147-A177-3AD203B41FA5}">
                      <a16:colId xmlns:a16="http://schemas.microsoft.com/office/drawing/2014/main" val="4051940088"/>
                    </a:ext>
                  </a:extLst>
                </a:gridCol>
                <a:gridCol w="2286000">
                  <a:extLst>
                    <a:ext uri="{9D8B030D-6E8A-4147-A177-3AD203B41FA5}">
                      <a16:colId xmlns:a16="http://schemas.microsoft.com/office/drawing/2014/main" val="3390767889"/>
                    </a:ext>
                  </a:extLst>
                </a:gridCol>
              </a:tblGrid>
              <a:tr h="2861930">
                <a:tc>
                  <a:txBody>
                    <a:bodyPr/>
                    <a:lstStyle/>
                    <a:p>
                      <a:pPr>
                        <a:buNone/>
                      </a:pPr>
                      <a:endParaRPr lang="en-US" b="1"/>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272700957"/>
                  </a:ext>
                </a:extLst>
              </a:tr>
            </a:tbl>
          </a:graphicData>
        </a:graphic>
      </p:graphicFrame>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a:ea typeface="Trebuchet MS"/>
              <a:cs typeface="Trebuchet MS"/>
              <a:sym typeface="Trebuchet MS"/>
            </a:endParaRPr>
          </a:p>
        </p:txBody>
      </p:sp>
      <p:sp>
        <p:nvSpPr>
          <p:cNvPr id="2" name="Title 1"/>
          <p:cNvSpPr>
            <a:spLocks noGrp="1"/>
          </p:cNvSpPr>
          <p:nvPr>
            <p:ph type="title"/>
          </p:nvPr>
        </p:nvSpPr>
        <p:spPr>
          <a:xfrm>
            <a:off x="915091" y="-4636"/>
            <a:ext cx="6117431" cy="553842"/>
          </a:xfrm>
        </p:spPr>
        <p:txBody>
          <a:bodyPr/>
          <a:lstStyle/>
          <a:p>
            <a:r>
              <a:rPr lang="en-US" sz="3600"/>
              <a:t>Literature Survey </a:t>
            </a:r>
          </a:p>
        </p:txBody>
      </p:sp>
      <p:graphicFrame>
        <p:nvGraphicFramePr>
          <p:cNvPr id="3" name="Table 2"/>
          <p:cNvGraphicFramePr>
            <a:graphicFrameLocks noGrp="1"/>
          </p:cNvGraphicFramePr>
          <p:nvPr>
            <p:extLst>
              <p:ext uri="{D42A27DB-BD31-4B8C-83A1-F6EECF244321}">
                <p14:modId xmlns:p14="http://schemas.microsoft.com/office/powerpoint/2010/main" val="3768705929"/>
              </p:ext>
            </p:extLst>
          </p:nvPr>
        </p:nvGraphicFramePr>
        <p:xfrm>
          <a:off x="380017" y="683691"/>
          <a:ext cx="8306783" cy="4099560"/>
        </p:xfrm>
        <a:graphic>
          <a:graphicData uri="http://schemas.openxmlformats.org/drawingml/2006/table">
            <a:tbl>
              <a:tblPr firstRow="1" bandRow="1">
                <a:tableStyleId>{1D3205E1-8B83-452B-8570-0B3C4014EAE2}</a:tableStyleId>
              </a:tblPr>
              <a:tblGrid>
                <a:gridCol w="1886577">
                  <a:extLst>
                    <a:ext uri="{9D8B030D-6E8A-4147-A177-3AD203B41FA5}">
                      <a16:colId xmlns:a16="http://schemas.microsoft.com/office/drawing/2014/main" val="20000"/>
                    </a:ext>
                  </a:extLst>
                </a:gridCol>
                <a:gridCol w="2884533">
                  <a:extLst>
                    <a:ext uri="{9D8B030D-6E8A-4147-A177-3AD203B41FA5}">
                      <a16:colId xmlns:a16="http://schemas.microsoft.com/office/drawing/2014/main" val="20001"/>
                    </a:ext>
                  </a:extLst>
                </a:gridCol>
                <a:gridCol w="1876346">
                  <a:extLst>
                    <a:ext uri="{9D8B030D-6E8A-4147-A177-3AD203B41FA5}">
                      <a16:colId xmlns:a16="http://schemas.microsoft.com/office/drawing/2014/main" val="20002"/>
                    </a:ext>
                  </a:extLst>
                </a:gridCol>
                <a:gridCol w="1659327">
                  <a:extLst>
                    <a:ext uri="{9D8B030D-6E8A-4147-A177-3AD203B41FA5}">
                      <a16:colId xmlns:a16="http://schemas.microsoft.com/office/drawing/2014/main" val="20003"/>
                    </a:ext>
                  </a:extLst>
                </a:gridCol>
              </a:tblGrid>
              <a:tr h="230389">
                <a:tc>
                  <a:txBody>
                    <a:bodyPr/>
                    <a:lstStyle/>
                    <a:p>
                      <a:pPr algn="ctr"/>
                      <a:r>
                        <a:rPr lang="en-US" b="1" dirty="0"/>
                        <a:t>Author(s)</a:t>
                      </a:r>
                    </a:p>
                  </a:txBody>
                  <a:tcPr/>
                </a:tc>
                <a:tc>
                  <a:txBody>
                    <a:bodyPr/>
                    <a:lstStyle/>
                    <a:p>
                      <a:pPr algn="ctr"/>
                      <a:r>
                        <a:rPr lang="en-US" b="1" dirty="0"/>
                        <a:t>Method</a:t>
                      </a:r>
                    </a:p>
                  </a:txBody>
                  <a:tcPr/>
                </a:tc>
                <a:tc>
                  <a:txBody>
                    <a:bodyPr/>
                    <a:lstStyle/>
                    <a:p>
                      <a:pPr algn="ctr"/>
                      <a:r>
                        <a:rPr lang="en-US" b="1" dirty="0"/>
                        <a:t>Advantages</a:t>
                      </a:r>
                    </a:p>
                  </a:txBody>
                  <a:tcPr/>
                </a:tc>
                <a:tc>
                  <a:txBody>
                    <a:bodyPr/>
                    <a:lstStyle/>
                    <a:p>
                      <a:pPr algn="ctr"/>
                      <a:r>
                        <a:rPr lang="en-US" b="1" dirty="0"/>
                        <a:t>Disadvantages</a:t>
                      </a:r>
                    </a:p>
                  </a:txBody>
                  <a:tcPr/>
                </a:tc>
                <a:extLst>
                  <a:ext uri="{0D108BD9-81ED-4DB2-BD59-A6C34878D82A}">
                    <a16:rowId xmlns:a16="http://schemas.microsoft.com/office/drawing/2014/main" val="10000"/>
                  </a:ext>
                </a:extLst>
              </a:tr>
              <a:tr h="1219450">
                <a:tc>
                  <a:txBody>
                    <a:bodyPr/>
                    <a:lstStyle/>
                    <a:p>
                      <a:pPr fontAlgn="t">
                        <a:lnSpc>
                          <a:spcPts val="1500"/>
                        </a:lnSpc>
                        <a:buNone/>
                      </a:pPr>
                      <a:r>
                        <a:rPr lang="en-IN" sz="1200" b="1" dirty="0">
                          <a:effectLst/>
                          <a:latin typeface="Google Sans Flex"/>
                        </a:rPr>
                        <a:t>Dhamala &amp; Acharya (2024)</a:t>
                      </a:r>
                      <a:endParaRPr lang="en-IN" sz="1200" b="0" dirty="0">
                        <a:effectLst/>
                        <a:latin typeface="Google Sans Flex"/>
                      </a:endParaRPr>
                    </a:p>
                  </a:txBody>
                  <a:tcPr marT="60960" marB="60960"/>
                </a:tc>
                <a:tc>
                  <a:txBody>
                    <a:bodyPr/>
                    <a:lstStyle/>
                    <a:p>
                      <a:pPr fontAlgn="t">
                        <a:lnSpc>
                          <a:spcPts val="1500"/>
                        </a:lnSpc>
                        <a:buNone/>
                      </a:pPr>
                      <a:r>
                        <a:rPr lang="en-US" sz="1200" b="0">
                          <a:effectLst/>
                          <a:latin typeface="Google Sans Flex"/>
                        </a:rPr>
                        <a:t>Comparison of DES, AES, and Blowfish-based DNA Cryptography</a:t>
                      </a:r>
                    </a:p>
                  </a:txBody>
                  <a:tcPr marT="60960" marB="60960"/>
                </a:tc>
                <a:tc>
                  <a:txBody>
                    <a:bodyPr/>
                    <a:lstStyle/>
                    <a:p>
                      <a:pPr fontAlgn="t">
                        <a:lnSpc>
                          <a:spcPts val="1500"/>
                        </a:lnSpc>
                        <a:buNone/>
                      </a:pPr>
                      <a:r>
                        <a:rPr lang="en-US" sz="1200" b="0" dirty="0">
                          <a:effectLst/>
                          <a:latin typeface="Google Sans Flex"/>
                        </a:rPr>
                        <a:t>Identifies Blowfish as having the fastest decryption; provides a benchmark for symmetric algorithm performance with DNA.</a:t>
                      </a:r>
                    </a:p>
                  </a:txBody>
                  <a:tcPr marT="60960" marB="60960"/>
                </a:tc>
                <a:tc>
                  <a:txBody>
                    <a:bodyPr/>
                    <a:lstStyle/>
                    <a:p>
                      <a:pPr fontAlgn="t">
                        <a:lnSpc>
                          <a:spcPts val="1500"/>
                        </a:lnSpc>
                        <a:buNone/>
                      </a:pPr>
                      <a:r>
                        <a:rPr lang="en-US" sz="1200" b="0" dirty="0">
                          <a:effectLst/>
                          <a:latin typeface="Google Sans Flex"/>
                        </a:rPr>
                        <a:t>AES-based DNA algorithms exhibit significantly longer encryption and decryption times.</a:t>
                      </a:r>
                    </a:p>
                  </a:txBody>
                  <a:tcPr marT="60960" marB="60960"/>
                </a:tc>
                <a:extLst>
                  <a:ext uri="{0D108BD9-81ED-4DB2-BD59-A6C34878D82A}">
                    <a16:rowId xmlns:a16="http://schemas.microsoft.com/office/drawing/2014/main" val="10001"/>
                  </a:ext>
                </a:extLst>
              </a:tr>
              <a:tr h="1245071">
                <a:tc>
                  <a:txBody>
                    <a:bodyPr/>
                    <a:lstStyle/>
                    <a:p>
                      <a:pPr fontAlgn="t">
                        <a:lnSpc>
                          <a:spcPts val="1500"/>
                        </a:lnSpc>
                        <a:buNone/>
                      </a:pPr>
                      <a:r>
                        <a:rPr lang="en-IN" sz="1200" b="1" dirty="0">
                          <a:effectLst/>
                          <a:latin typeface="Google Sans Flex"/>
                        </a:rPr>
                        <a:t>Selvi &amp; Rajendran (2025)</a:t>
                      </a:r>
                      <a:endParaRPr lang="en-IN" sz="1200" b="0" dirty="0">
                        <a:effectLst/>
                        <a:latin typeface="Google Sans Flex"/>
                      </a:endParaRPr>
                    </a:p>
                  </a:txBody>
                  <a:tcPr marT="60960" marB="60960"/>
                </a:tc>
                <a:tc>
                  <a:txBody>
                    <a:bodyPr/>
                    <a:lstStyle/>
                    <a:p>
                      <a:pPr fontAlgn="t">
                        <a:lnSpc>
                          <a:spcPts val="1500"/>
                        </a:lnSpc>
                        <a:buNone/>
                      </a:pPr>
                      <a:r>
                        <a:rPr lang="en-US" sz="1200" b="0" dirty="0">
                          <a:effectLst/>
                          <a:latin typeface="Google Sans Flex"/>
                        </a:rPr>
                        <a:t>Hybrid DNA Encoding + Chaotic Mapping for Cloud Multimedia</a:t>
                      </a:r>
                    </a:p>
                  </a:txBody>
                  <a:tcPr marT="60960" marB="60960"/>
                </a:tc>
                <a:tc>
                  <a:txBody>
                    <a:bodyPr/>
                    <a:lstStyle/>
                    <a:p>
                      <a:pPr fontAlgn="t">
                        <a:lnSpc>
                          <a:spcPts val="1500"/>
                        </a:lnSpc>
                        <a:buNone/>
                      </a:pPr>
                      <a:r>
                        <a:rPr lang="en-US" sz="1200" b="0">
                          <a:effectLst/>
                          <a:latin typeface="Google Sans Flex"/>
                        </a:rPr>
                        <a:t>Uniform histogram results indicate high resistance to pattern-based attacks; verified via CloudSim for real-world application.</a:t>
                      </a:r>
                    </a:p>
                  </a:txBody>
                  <a:tcPr marT="60960" marB="60960"/>
                </a:tc>
                <a:tc>
                  <a:txBody>
                    <a:bodyPr/>
                    <a:lstStyle/>
                    <a:p>
                      <a:pPr fontAlgn="t">
                        <a:lnSpc>
                          <a:spcPts val="1500"/>
                        </a:lnSpc>
                        <a:buNone/>
                      </a:pPr>
                      <a:r>
                        <a:rPr lang="en-US" sz="1200" b="0" dirty="0">
                          <a:effectLst/>
                          <a:latin typeface="Google Sans Flex"/>
                        </a:rPr>
                        <a:t>High throughput may require substantial computational power for real-time verification of massive datasets.</a:t>
                      </a:r>
                    </a:p>
                  </a:txBody>
                  <a:tcPr marT="60960" marB="60960"/>
                </a:tc>
                <a:extLst>
                  <a:ext uri="{0D108BD9-81ED-4DB2-BD59-A6C34878D82A}">
                    <a16:rowId xmlns:a16="http://schemas.microsoft.com/office/drawing/2014/main" val="10002"/>
                  </a:ext>
                </a:extLst>
              </a:tr>
              <a:tr h="0">
                <a:tc>
                  <a:txBody>
                    <a:bodyPr/>
                    <a:lstStyle/>
                    <a:p>
                      <a:pPr fontAlgn="t">
                        <a:lnSpc>
                          <a:spcPts val="1500"/>
                        </a:lnSpc>
                        <a:buNone/>
                      </a:pPr>
                      <a:r>
                        <a:rPr lang="en-IN" sz="1200" b="1" dirty="0">
                          <a:effectLst/>
                          <a:latin typeface="Google Sans Flex"/>
                        </a:rPr>
                        <a:t>Sharfuddin et al. (2023)</a:t>
                      </a:r>
                      <a:endParaRPr lang="en-IN" sz="1200" b="0" dirty="0">
                        <a:effectLst/>
                        <a:latin typeface="Google Sans Flex"/>
                      </a:endParaRPr>
                    </a:p>
                  </a:txBody>
                  <a:tcPr marT="60960" marB="60960"/>
                </a:tc>
                <a:tc>
                  <a:txBody>
                    <a:bodyPr/>
                    <a:lstStyle/>
                    <a:p>
                      <a:pPr fontAlgn="t">
                        <a:lnSpc>
                          <a:spcPts val="1500"/>
                        </a:lnSpc>
                        <a:buNone/>
                      </a:pPr>
                      <a:r>
                        <a:rPr lang="en-IN" sz="1200" b="0" dirty="0">
                          <a:effectLst/>
                          <a:latin typeface="Google Sans Flex"/>
                        </a:rPr>
                        <a:t>F-DNAES (Feedback DNA + AES) Hybrid Approach</a:t>
                      </a:r>
                    </a:p>
                  </a:txBody>
                  <a:tcPr marT="60960" marB="60960"/>
                </a:tc>
                <a:tc>
                  <a:txBody>
                    <a:bodyPr/>
                    <a:lstStyle/>
                    <a:p>
                      <a:pPr fontAlgn="t">
                        <a:lnSpc>
                          <a:spcPts val="1500"/>
                        </a:lnSpc>
                        <a:buNone/>
                      </a:pPr>
                      <a:r>
                        <a:rPr lang="en-US" sz="1200" b="0" dirty="0">
                          <a:effectLst/>
                          <a:latin typeface="Google Sans Flex"/>
                        </a:rPr>
                        <a:t>Leverages DNA stability and AES robustness; optimizes key generation time through elliptic curve integration.</a:t>
                      </a:r>
                    </a:p>
                  </a:txBody>
                  <a:tcPr marT="60960" marB="60960"/>
                </a:tc>
                <a:tc>
                  <a:txBody>
                    <a:bodyPr/>
                    <a:lstStyle/>
                    <a:p>
                      <a:pPr fontAlgn="t">
                        <a:lnSpc>
                          <a:spcPts val="1500"/>
                        </a:lnSpc>
                        <a:buNone/>
                      </a:pPr>
                      <a:r>
                        <a:rPr lang="en-US" sz="1200" b="0" dirty="0">
                          <a:effectLst/>
                          <a:latin typeface="Google Sans Flex"/>
                        </a:rPr>
                        <a:t>Hybrid logic increases the complexity of the implementation, potentially requiring more specialized hardware.</a:t>
                      </a:r>
                    </a:p>
                  </a:txBody>
                  <a:tcPr marT="60960" marB="60960"/>
                </a:tc>
                <a:extLst>
                  <a:ext uri="{0D108BD9-81ED-4DB2-BD59-A6C34878D82A}">
                    <a16:rowId xmlns:a16="http://schemas.microsoft.com/office/drawing/2014/main" val="10003"/>
                  </a:ext>
                </a:extLst>
              </a:tr>
            </a:tbl>
          </a:graphicData>
        </a:graphic>
      </p:graphicFrame>
      <p:sp>
        <p:nvSpPr>
          <p:cNvPr id="6" name="Footer Placeholder 5"/>
          <p:cNvSpPr>
            <a:spLocks noGrp="1"/>
          </p:cNvSpPr>
          <p:nvPr>
            <p:ph type="ftr" idx="11"/>
          </p:nvPr>
        </p:nvSpPr>
        <p:spPr>
          <a:xfrm>
            <a:off x="2787396" y="4866578"/>
            <a:ext cx="3569208" cy="186778"/>
          </a:xfrm>
        </p:spPr>
        <p:txBody>
          <a:bodyPr/>
          <a:lstStyle/>
          <a:p>
            <a:r>
              <a:rPr lang="en-US" dirty="0"/>
              <a:t>Department of Computer Science and Engineering</a:t>
            </a:r>
          </a:p>
        </p:txBody>
      </p:sp>
      <p:sp>
        <p:nvSpPr>
          <p:cNvPr id="5" name="TextBox 4">
            <a:extLst>
              <a:ext uri="{FF2B5EF4-FFF2-40B4-BE49-F238E27FC236}">
                <a16:creationId xmlns:a16="http://schemas.microsoft.com/office/drawing/2014/main" id="{793CC6A1-F1E1-C664-DEC7-2A0C3755B447}"/>
              </a:ext>
            </a:extLst>
          </p:cNvPr>
          <p:cNvSpPr txBox="1"/>
          <p:nvPr/>
        </p:nvSpPr>
        <p:spPr>
          <a:xfrm>
            <a:off x="360736" y="4821467"/>
            <a:ext cx="1108710" cy="276999"/>
          </a:xfrm>
          <a:prstGeom prst="rect">
            <a:avLst/>
          </a:prstGeom>
          <a:noFill/>
        </p:spPr>
        <p:txBody>
          <a:bodyPr wrap="square">
            <a:spAutoFit/>
          </a:bodyPr>
          <a:lstStyle/>
          <a:p>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21.12.2024</a:t>
            </a:r>
            <a:endParaRPr lang="en-IN"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9344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17FADFAB-C979-66DB-B084-1B9F734717A8}"/>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87596BA-0B85-60BD-BA52-59EDCA56F1C9}"/>
              </a:ext>
            </a:extLst>
          </p:cNvPr>
          <p:cNvGraphicFramePr>
            <a:graphicFrameLocks noGrp="1"/>
          </p:cNvGraphicFramePr>
          <p:nvPr/>
        </p:nvGraphicFramePr>
        <p:xfrm>
          <a:off x="0" y="1885950"/>
          <a:ext cx="9144000" cy="2861930"/>
        </p:xfrm>
        <a:graphic>
          <a:graphicData uri="http://schemas.openxmlformats.org/drawingml/2006/table">
            <a:tbl>
              <a:tblPr bandRow="1">
                <a:tableStyleId>{1D3205E1-8B83-452B-8570-0B3C4014EAE2}</a:tableStyleId>
              </a:tblPr>
              <a:tblGrid>
                <a:gridCol w="2286000">
                  <a:extLst>
                    <a:ext uri="{9D8B030D-6E8A-4147-A177-3AD203B41FA5}">
                      <a16:colId xmlns:a16="http://schemas.microsoft.com/office/drawing/2014/main" val="783936704"/>
                    </a:ext>
                  </a:extLst>
                </a:gridCol>
                <a:gridCol w="2286000">
                  <a:extLst>
                    <a:ext uri="{9D8B030D-6E8A-4147-A177-3AD203B41FA5}">
                      <a16:colId xmlns:a16="http://schemas.microsoft.com/office/drawing/2014/main" val="850770741"/>
                    </a:ext>
                  </a:extLst>
                </a:gridCol>
                <a:gridCol w="2286000">
                  <a:extLst>
                    <a:ext uri="{9D8B030D-6E8A-4147-A177-3AD203B41FA5}">
                      <a16:colId xmlns:a16="http://schemas.microsoft.com/office/drawing/2014/main" val="4051940088"/>
                    </a:ext>
                  </a:extLst>
                </a:gridCol>
                <a:gridCol w="2286000">
                  <a:extLst>
                    <a:ext uri="{9D8B030D-6E8A-4147-A177-3AD203B41FA5}">
                      <a16:colId xmlns:a16="http://schemas.microsoft.com/office/drawing/2014/main" val="3390767889"/>
                    </a:ext>
                  </a:extLst>
                </a:gridCol>
              </a:tblGrid>
              <a:tr h="2861930">
                <a:tc>
                  <a:txBody>
                    <a:bodyPr/>
                    <a:lstStyle/>
                    <a:p>
                      <a:pPr>
                        <a:buNone/>
                      </a:pPr>
                      <a:endParaRPr lang="en-US" b="1"/>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272700957"/>
                  </a:ext>
                </a:extLst>
              </a:tr>
            </a:tbl>
          </a:graphicData>
        </a:graphic>
      </p:graphicFrame>
      <p:sp>
        <p:nvSpPr>
          <p:cNvPr id="119" name="Google Shape;119;p1">
            <a:extLst>
              <a:ext uri="{FF2B5EF4-FFF2-40B4-BE49-F238E27FC236}">
                <a16:creationId xmlns:a16="http://schemas.microsoft.com/office/drawing/2014/main" id="{39D09210-F73B-5468-E474-EFEE1FA76F01}"/>
              </a:ext>
            </a:extLst>
          </p:cNvPr>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20" name="Google Shape;120;p1">
            <a:extLst>
              <a:ext uri="{FF2B5EF4-FFF2-40B4-BE49-F238E27FC236}">
                <a16:creationId xmlns:a16="http://schemas.microsoft.com/office/drawing/2014/main" id="{13D58C23-68F2-F116-6977-AF061F88289D}"/>
              </a:ext>
            </a:extLst>
          </p:cNvPr>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a:ea typeface="Trebuchet MS"/>
              <a:cs typeface="Trebuchet MS"/>
              <a:sym typeface="Trebuchet MS"/>
            </a:endParaRPr>
          </a:p>
        </p:txBody>
      </p:sp>
      <p:sp>
        <p:nvSpPr>
          <p:cNvPr id="2" name="Title 1">
            <a:extLst>
              <a:ext uri="{FF2B5EF4-FFF2-40B4-BE49-F238E27FC236}">
                <a16:creationId xmlns:a16="http://schemas.microsoft.com/office/drawing/2014/main" id="{D2CBB932-B608-00B2-1506-149A9B65BD85}"/>
              </a:ext>
            </a:extLst>
          </p:cNvPr>
          <p:cNvSpPr>
            <a:spLocks noGrp="1"/>
          </p:cNvSpPr>
          <p:nvPr>
            <p:ph type="title"/>
          </p:nvPr>
        </p:nvSpPr>
        <p:spPr>
          <a:xfrm>
            <a:off x="915091" y="-4636"/>
            <a:ext cx="6117431" cy="553842"/>
          </a:xfrm>
        </p:spPr>
        <p:txBody>
          <a:bodyPr/>
          <a:lstStyle/>
          <a:p>
            <a:r>
              <a:rPr lang="en-US" sz="3600"/>
              <a:t>Literature Survey </a:t>
            </a:r>
          </a:p>
        </p:txBody>
      </p:sp>
      <p:graphicFrame>
        <p:nvGraphicFramePr>
          <p:cNvPr id="3" name="Table 2">
            <a:extLst>
              <a:ext uri="{FF2B5EF4-FFF2-40B4-BE49-F238E27FC236}">
                <a16:creationId xmlns:a16="http://schemas.microsoft.com/office/drawing/2014/main" id="{1BAD3F48-4D2F-495F-D887-B53D5EFCF44B}"/>
              </a:ext>
            </a:extLst>
          </p:cNvPr>
          <p:cNvGraphicFramePr>
            <a:graphicFrameLocks noGrp="1"/>
          </p:cNvGraphicFramePr>
          <p:nvPr>
            <p:extLst>
              <p:ext uri="{D42A27DB-BD31-4B8C-83A1-F6EECF244321}">
                <p14:modId xmlns:p14="http://schemas.microsoft.com/office/powerpoint/2010/main" val="2454458670"/>
              </p:ext>
            </p:extLst>
          </p:nvPr>
        </p:nvGraphicFramePr>
        <p:xfrm>
          <a:off x="380017" y="683691"/>
          <a:ext cx="8306783" cy="3973988"/>
        </p:xfrm>
        <a:graphic>
          <a:graphicData uri="http://schemas.openxmlformats.org/drawingml/2006/table">
            <a:tbl>
              <a:tblPr firstRow="1" bandRow="1">
                <a:tableStyleId>{1D3205E1-8B83-452B-8570-0B3C4014EAE2}</a:tableStyleId>
              </a:tblPr>
              <a:tblGrid>
                <a:gridCol w="1886577">
                  <a:extLst>
                    <a:ext uri="{9D8B030D-6E8A-4147-A177-3AD203B41FA5}">
                      <a16:colId xmlns:a16="http://schemas.microsoft.com/office/drawing/2014/main" val="20000"/>
                    </a:ext>
                  </a:extLst>
                </a:gridCol>
                <a:gridCol w="2884533">
                  <a:extLst>
                    <a:ext uri="{9D8B030D-6E8A-4147-A177-3AD203B41FA5}">
                      <a16:colId xmlns:a16="http://schemas.microsoft.com/office/drawing/2014/main" val="20001"/>
                    </a:ext>
                  </a:extLst>
                </a:gridCol>
                <a:gridCol w="1876346">
                  <a:extLst>
                    <a:ext uri="{9D8B030D-6E8A-4147-A177-3AD203B41FA5}">
                      <a16:colId xmlns:a16="http://schemas.microsoft.com/office/drawing/2014/main" val="20002"/>
                    </a:ext>
                  </a:extLst>
                </a:gridCol>
                <a:gridCol w="1659327">
                  <a:extLst>
                    <a:ext uri="{9D8B030D-6E8A-4147-A177-3AD203B41FA5}">
                      <a16:colId xmlns:a16="http://schemas.microsoft.com/office/drawing/2014/main" val="20003"/>
                    </a:ext>
                  </a:extLst>
                </a:gridCol>
              </a:tblGrid>
              <a:tr h="230389">
                <a:tc>
                  <a:txBody>
                    <a:bodyPr/>
                    <a:lstStyle/>
                    <a:p>
                      <a:pPr algn="ctr"/>
                      <a:r>
                        <a:rPr lang="en-US" b="1" dirty="0"/>
                        <a:t>Author(s)</a:t>
                      </a:r>
                    </a:p>
                  </a:txBody>
                  <a:tcPr/>
                </a:tc>
                <a:tc>
                  <a:txBody>
                    <a:bodyPr/>
                    <a:lstStyle/>
                    <a:p>
                      <a:pPr algn="ctr"/>
                      <a:r>
                        <a:rPr lang="en-US" b="1" dirty="0"/>
                        <a:t>Method</a:t>
                      </a:r>
                    </a:p>
                  </a:txBody>
                  <a:tcPr/>
                </a:tc>
                <a:tc>
                  <a:txBody>
                    <a:bodyPr/>
                    <a:lstStyle/>
                    <a:p>
                      <a:pPr algn="ctr"/>
                      <a:r>
                        <a:rPr lang="en-US" b="1" dirty="0"/>
                        <a:t>Advantages</a:t>
                      </a:r>
                    </a:p>
                  </a:txBody>
                  <a:tcPr/>
                </a:tc>
                <a:tc>
                  <a:txBody>
                    <a:bodyPr/>
                    <a:lstStyle/>
                    <a:p>
                      <a:pPr algn="ctr"/>
                      <a:r>
                        <a:rPr lang="en-US" b="1" dirty="0"/>
                        <a:t>Disadvantages</a:t>
                      </a:r>
                    </a:p>
                  </a:txBody>
                  <a:tcPr/>
                </a:tc>
                <a:extLst>
                  <a:ext uri="{0D108BD9-81ED-4DB2-BD59-A6C34878D82A}">
                    <a16:rowId xmlns:a16="http://schemas.microsoft.com/office/drawing/2014/main" val="10000"/>
                  </a:ext>
                </a:extLst>
              </a:tr>
              <a:tr h="1290223">
                <a:tc>
                  <a:txBody>
                    <a:bodyPr/>
                    <a:lstStyle/>
                    <a:p>
                      <a:pPr fontAlgn="t">
                        <a:lnSpc>
                          <a:spcPts val="1500"/>
                        </a:lnSpc>
                        <a:buNone/>
                      </a:pPr>
                      <a:r>
                        <a:rPr lang="en-IN" sz="1200" b="1" dirty="0">
                          <a:effectLst/>
                          <a:latin typeface="Google Sans Flex"/>
                        </a:rPr>
                        <a:t>Sarker (2024)</a:t>
                      </a:r>
                      <a:endParaRPr lang="en-IN" sz="1200" b="0" dirty="0">
                        <a:effectLst/>
                        <a:latin typeface="Google Sans Flex"/>
                      </a:endParaRPr>
                    </a:p>
                  </a:txBody>
                  <a:tcPr marT="60960" marB="60960"/>
                </a:tc>
                <a:tc>
                  <a:txBody>
                    <a:bodyPr/>
                    <a:lstStyle/>
                    <a:p>
                      <a:pPr fontAlgn="t">
                        <a:lnSpc>
                          <a:spcPts val="1500"/>
                        </a:lnSpc>
                        <a:buNone/>
                      </a:pPr>
                      <a:r>
                        <a:rPr lang="en-US" sz="1200" b="0">
                          <a:effectLst/>
                          <a:latin typeface="Google Sans Flex"/>
                        </a:rPr>
                        <a:t>Context-Aware Access Control with DNA Cryptography</a:t>
                      </a:r>
                    </a:p>
                  </a:txBody>
                  <a:tcPr marT="60960" marB="60960"/>
                </a:tc>
                <a:tc>
                  <a:txBody>
                    <a:bodyPr/>
                    <a:lstStyle/>
                    <a:p>
                      <a:pPr fontAlgn="t">
                        <a:lnSpc>
                          <a:spcPts val="1500"/>
                        </a:lnSpc>
                        <a:buNone/>
                      </a:pPr>
                      <a:r>
                        <a:rPr lang="en-US" sz="1200" b="0">
                          <a:effectLst/>
                          <a:latin typeface="Google Sans Flex"/>
                        </a:rPr>
                        <a:t>Dynamically activates role permissions; trust module detects malicious users and restricts access via identity tagging.</a:t>
                      </a:r>
                    </a:p>
                  </a:txBody>
                  <a:tcPr marT="60960" marB="60960"/>
                </a:tc>
                <a:tc>
                  <a:txBody>
                    <a:bodyPr/>
                    <a:lstStyle/>
                    <a:p>
                      <a:pPr fontAlgn="t">
                        <a:lnSpc>
                          <a:spcPts val="1500"/>
                        </a:lnSpc>
                        <a:buNone/>
                      </a:pPr>
                      <a:r>
                        <a:rPr lang="en-US" sz="1200" b="0" dirty="0">
                          <a:effectLst/>
                          <a:latin typeface="Google Sans Flex"/>
                        </a:rPr>
                        <a:t>Access control models can fall short if they fail to address the high diversity of entities in complex cloud ecosystems.</a:t>
                      </a:r>
                    </a:p>
                  </a:txBody>
                  <a:tcPr marT="60960" marB="60960"/>
                </a:tc>
                <a:extLst>
                  <a:ext uri="{0D108BD9-81ED-4DB2-BD59-A6C34878D82A}">
                    <a16:rowId xmlns:a16="http://schemas.microsoft.com/office/drawing/2014/main" val="10001"/>
                  </a:ext>
                </a:extLst>
              </a:tr>
              <a:tr h="1304545">
                <a:tc>
                  <a:txBody>
                    <a:bodyPr/>
                    <a:lstStyle/>
                    <a:p>
                      <a:pPr fontAlgn="t">
                        <a:lnSpc>
                          <a:spcPts val="1500"/>
                        </a:lnSpc>
                        <a:buNone/>
                      </a:pPr>
                      <a:r>
                        <a:rPr lang="en-IN" sz="1200" b="1" dirty="0">
                          <a:effectLst/>
                          <a:latin typeface="Google Sans Flex"/>
                        </a:rPr>
                        <a:t>Hammad et al. (2022)</a:t>
                      </a:r>
                      <a:endParaRPr lang="en-IN" sz="1200" b="0" dirty="0">
                        <a:effectLst/>
                        <a:latin typeface="Google Sans Flex"/>
                      </a:endParaRPr>
                    </a:p>
                  </a:txBody>
                  <a:tcPr marT="60960" marB="60960"/>
                </a:tc>
                <a:tc>
                  <a:txBody>
                    <a:bodyPr/>
                    <a:lstStyle/>
                    <a:p>
                      <a:pPr fontAlgn="t">
                        <a:lnSpc>
                          <a:spcPts val="1500"/>
                        </a:lnSpc>
                        <a:buNone/>
                      </a:pPr>
                      <a:r>
                        <a:rPr lang="en-IN" sz="1200" b="0">
                          <a:effectLst/>
                          <a:latin typeface="Google Sans Flex"/>
                        </a:rPr>
                        <a:t>Symmetric (OTP) vs. Asymmetric (RSA) DNA Cryptography</a:t>
                      </a:r>
                    </a:p>
                  </a:txBody>
                  <a:tcPr marT="60960" marB="60960"/>
                </a:tc>
                <a:tc>
                  <a:txBody>
                    <a:bodyPr/>
                    <a:lstStyle/>
                    <a:p>
                      <a:pPr fontAlgn="t">
                        <a:lnSpc>
                          <a:spcPts val="1500"/>
                        </a:lnSpc>
                        <a:buNone/>
                      </a:pPr>
                      <a:r>
                        <a:rPr lang="en-US" sz="1200" b="0" dirty="0">
                          <a:effectLst/>
                          <a:latin typeface="Google Sans Flex"/>
                        </a:rPr>
                        <a:t>Symmetric DNA cryptography is efficient in both time and size; GZIP compression helps reduce data redundancy.</a:t>
                      </a:r>
                    </a:p>
                  </a:txBody>
                  <a:tcPr marT="60960" marB="60960"/>
                </a:tc>
                <a:tc>
                  <a:txBody>
                    <a:bodyPr/>
                    <a:lstStyle/>
                    <a:p>
                      <a:pPr fontAlgn="t">
                        <a:lnSpc>
                          <a:spcPts val="1500"/>
                        </a:lnSpc>
                        <a:buNone/>
                      </a:pPr>
                      <a:r>
                        <a:rPr lang="en-US" sz="1200" b="0" dirty="0">
                          <a:effectLst/>
                          <a:latin typeface="Google Sans Flex"/>
                        </a:rPr>
                        <a:t>Asymmetric DNA-RSA algorithms suffer from longer computational times without compression techniques</a:t>
                      </a:r>
                    </a:p>
                  </a:txBody>
                  <a:tcPr marT="60960" marB="60960"/>
                </a:tc>
                <a:extLst>
                  <a:ext uri="{0D108BD9-81ED-4DB2-BD59-A6C34878D82A}">
                    <a16:rowId xmlns:a16="http://schemas.microsoft.com/office/drawing/2014/main" val="10002"/>
                  </a:ext>
                </a:extLst>
              </a:tr>
              <a:tr h="0">
                <a:tc>
                  <a:txBody>
                    <a:bodyPr/>
                    <a:lstStyle/>
                    <a:p>
                      <a:pPr fontAlgn="t">
                        <a:lnSpc>
                          <a:spcPts val="1500"/>
                        </a:lnSpc>
                        <a:buNone/>
                      </a:pPr>
                      <a:r>
                        <a:rPr lang="en-IN" sz="1200" b="1" dirty="0" err="1">
                          <a:effectLst/>
                          <a:latin typeface="Google Sans Flex"/>
                        </a:rPr>
                        <a:t>Kolate</a:t>
                      </a:r>
                      <a:r>
                        <a:rPr lang="en-IN" sz="1200" b="1" dirty="0">
                          <a:effectLst/>
                          <a:latin typeface="Google Sans Flex"/>
                        </a:rPr>
                        <a:t> &amp; Joshi (2021)</a:t>
                      </a:r>
                      <a:endParaRPr lang="en-IN" sz="1200" b="0" dirty="0">
                        <a:effectLst/>
                        <a:latin typeface="Google Sans Flex"/>
                      </a:endParaRPr>
                    </a:p>
                  </a:txBody>
                  <a:tcPr marT="60960" marB="60960"/>
                </a:tc>
                <a:tc>
                  <a:txBody>
                    <a:bodyPr/>
                    <a:lstStyle/>
                    <a:p>
                      <a:pPr fontAlgn="t">
                        <a:lnSpc>
                          <a:spcPts val="1500"/>
                        </a:lnSpc>
                        <a:buNone/>
                      </a:pPr>
                      <a:r>
                        <a:rPr lang="en-IN" sz="1200" b="0">
                          <a:effectLst/>
                          <a:latin typeface="Google Sans Flex"/>
                        </a:rPr>
                        <a:t>Multilevel DNA-based AES Encryption</a:t>
                      </a:r>
                    </a:p>
                  </a:txBody>
                  <a:tcPr marT="60960" marB="60960"/>
                </a:tc>
                <a:tc>
                  <a:txBody>
                    <a:bodyPr/>
                    <a:lstStyle/>
                    <a:p>
                      <a:pPr fontAlgn="t">
                        <a:lnSpc>
                          <a:spcPts val="1500"/>
                        </a:lnSpc>
                        <a:buNone/>
                      </a:pPr>
                      <a:r>
                        <a:rPr lang="en-US" sz="1200" b="0">
                          <a:effectLst/>
                          <a:latin typeface="Google Sans Flex"/>
                        </a:rPr>
                        <a:t>Provides enhanced security by converting data into DNA nucleotides (A, T, G, C) before AES processing.</a:t>
                      </a:r>
                    </a:p>
                  </a:txBody>
                  <a:tcPr marT="60960" marB="60960"/>
                </a:tc>
                <a:tc>
                  <a:txBody>
                    <a:bodyPr/>
                    <a:lstStyle/>
                    <a:p>
                      <a:pPr fontAlgn="t">
                        <a:lnSpc>
                          <a:spcPts val="1500"/>
                        </a:lnSpc>
                        <a:buNone/>
                      </a:pPr>
                      <a:r>
                        <a:rPr lang="en-US" sz="1200" b="0" dirty="0">
                          <a:effectLst/>
                          <a:latin typeface="Google Sans Flex"/>
                        </a:rPr>
                        <a:t>The conversion process from ASCII to DNA pairs can increase processing overhead</a:t>
                      </a:r>
                    </a:p>
                  </a:txBody>
                  <a:tcPr marT="60960" marB="60960"/>
                </a:tc>
                <a:extLst>
                  <a:ext uri="{0D108BD9-81ED-4DB2-BD59-A6C34878D82A}">
                    <a16:rowId xmlns:a16="http://schemas.microsoft.com/office/drawing/2014/main" val="10003"/>
                  </a:ext>
                </a:extLst>
              </a:tr>
            </a:tbl>
          </a:graphicData>
        </a:graphic>
      </p:graphicFrame>
      <p:sp>
        <p:nvSpPr>
          <p:cNvPr id="6" name="Footer Placeholder 5">
            <a:extLst>
              <a:ext uri="{FF2B5EF4-FFF2-40B4-BE49-F238E27FC236}">
                <a16:creationId xmlns:a16="http://schemas.microsoft.com/office/drawing/2014/main" id="{2E43129D-FA79-EF84-9ABC-4D4042968ACB}"/>
              </a:ext>
            </a:extLst>
          </p:cNvPr>
          <p:cNvSpPr>
            <a:spLocks noGrp="1"/>
          </p:cNvSpPr>
          <p:nvPr>
            <p:ph type="ftr" idx="11"/>
          </p:nvPr>
        </p:nvSpPr>
        <p:spPr>
          <a:xfrm>
            <a:off x="2671572" y="4780164"/>
            <a:ext cx="3800856" cy="186778"/>
          </a:xfrm>
        </p:spPr>
        <p:txBody>
          <a:bodyPr/>
          <a:lstStyle/>
          <a:p>
            <a:r>
              <a:rPr lang="en-US" dirty="0"/>
              <a:t>Department of Computer Science and Engineering</a:t>
            </a:r>
          </a:p>
        </p:txBody>
      </p:sp>
      <p:sp>
        <p:nvSpPr>
          <p:cNvPr id="8" name="TextBox 7">
            <a:extLst>
              <a:ext uri="{FF2B5EF4-FFF2-40B4-BE49-F238E27FC236}">
                <a16:creationId xmlns:a16="http://schemas.microsoft.com/office/drawing/2014/main" id="{39F4087C-E20E-87B9-0BA5-C8174900018F}"/>
              </a:ext>
            </a:extLst>
          </p:cNvPr>
          <p:cNvSpPr txBox="1"/>
          <p:nvPr/>
        </p:nvSpPr>
        <p:spPr>
          <a:xfrm>
            <a:off x="345186" y="4767265"/>
            <a:ext cx="1108710" cy="276999"/>
          </a:xfrm>
          <a:prstGeom prst="rect">
            <a:avLst/>
          </a:prstGeom>
          <a:noFill/>
        </p:spPr>
        <p:txBody>
          <a:bodyPr wrap="square">
            <a:spAutoFit/>
          </a:bodyPr>
          <a:lstStyle/>
          <a:p>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21.12.2024</a:t>
            </a:r>
            <a:endParaRPr lang="en-IN"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013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Bookman Old Style" panose="02050604050505020204" pitchFamily="18" charset="0"/>
              </a:rPr>
              <a:t>5</a:t>
            </a:fld>
            <a:endParaRPr>
              <a:latin typeface="Bookman Old Style" panose="02050604050505020204" pitchFamily="18" charset="0"/>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Bookman Old Style" panose="02050604050505020204" pitchFamily="18" charset="0"/>
              <a:ea typeface="Trebuchet MS"/>
              <a:cs typeface="Trebuchet MS"/>
              <a:sym typeface="Trebuchet MS"/>
            </a:endParaRPr>
          </a:p>
        </p:txBody>
      </p:sp>
      <p:sp>
        <p:nvSpPr>
          <p:cNvPr id="2" name="Title 1"/>
          <p:cNvSpPr>
            <a:spLocks noGrp="1"/>
          </p:cNvSpPr>
          <p:nvPr>
            <p:ph type="title"/>
          </p:nvPr>
        </p:nvSpPr>
        <p:spPr>
          <a:xfrm>
            <a:off x="991204" y="245192"/>
            <a:ext cx="6117431" cy="627321"/>
          </a:xfrm>
        </p:spPr>
        <p:txBody>
          <a:bodyPr/>
          <a:lstStyle/>
          <a:p>
            <a:r>
              <a:rPr lang="en-US" sz="3600">
                <a:latin typeface="Bookman Old Style" panose="02050604050505020204" pitchFamily="18" charset="0"/>
              </a:rPr>
              <a:t>Introduction</a:t>
            </a:r>
          </a:p>
        </p:txBody>
      </p:sp>
      <p:sp>
        <p:nvSpPr>
          <p:cNvPr id="5" name="TextBox 4"/>
          <p:cNvSpPr txBox="1"/>
          <p:nvPr/>
        </p:nvSpPr>
        <p:spPr>
          <a:xfrm>
            <a:off x="816983" y="1232922"/>
            <a:ext cx="6655982" cy="267765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dirty="0"/>
              <a:t>In the digital era, the authenticity of academic and professional certificates is a major concern for institutions and employers.  </a:t>
            </a:r>
          </a:p>
          <a:p>
            <a:pPr marL="285750" indent="-285750">
              <a:buFont typeface="Arial" panose="020B0604020202020204" pitchFamily="34" charset="0"/>
              <a:buChar char="•"/>
            </a:pPr>
            <a:r>
              <a:rPr lang="en-US" dirty="0"/>
              <a:t> Traditional verification methods are often slow, manual, and susceptible to forgery or unauthorized access.  </a:t>
            </a:r>
          </a:p>
          <a:p>
            <a:pPr marL="285750" indent="-285750">
              <a:buFont typeface="Arial" panose="020B0604020202020204" pitchFamily="34" charset="0"/>
              <a:buChar char="•"/>
            </a:pPr>
            <a:r>
              <a:rPr lang="en-US" dirty="0"/>
              <a:t>DNA Cryptography provides a bio-inspired approach to security, utilizing the complexity of biological structures to encrypt sensitive certificate data.  </a:t>
            </a:r>
          </a:p>
          <a:p>
            <a:pPr marL="285750" indent="-285750">
              <a:buFont typeface="Arial" panose="020B0604020202020204" pitchFamily="34" charset="0"/>
              <a:buChar char="•"/>
            </a:pPr>
            <a:r>
              <a:rPr lang="en-US" dirty="0"/>
              <a:t>By integrating this with Cloud Computing, the system ensures that certificates can be verified globally, securely, and in real-time.  </a:t>
            </a:r>
          </a:p>
          <a:p>
            <a:pPr marL="285750" indent="-285750">
              <a:buFont typeface="Arial" panose="020B0604020202020204" pitchFamily="34" charset="0"/>
              <a:buChar char="•"/>
            </a:pPr>
            <a:r>
              <a:rPr lang="en-US" dirty="0"/>
              <a:t>This approach is necessary to provide a tamper-proof mechanism for sensitive document storage and retrieval. </a:t>
            </a:r>
          </a:p>
          <a:p>
            <a:endParaRPr lang="en-US" dirty="0"/>
          </a:p>
          <a:p>
            <a:endParaRPr lang="en-US" dirty="0">
              <a:latin typeface="Bookman Old Style" panose="02050604050505020204" pitchFamily="18" charset="0"/>
            </a:endParaRPr>
          </a:p>
        </p:txBody>
      </p:sp>
      <p:sp>
        <p:nvSpPr>
          <p:cNvPr id="3" name="Date Placeholder 2"/>
          <p:cNvSpPr>
            <a:spLocks noGrp="1"/>
          </p:cNvSpPr>
          <p:nvPr>
            <p:ph type="dt" idx="10"/>
          </p:nvPr>
        </p:nvSpPr>
        <p:spPr/>
        <p:txBody>
          <a:bodyPr/>
          <a:lstStyle/>
          <a:p>
            <a:r>
              <a:rPr lang="en-US" dirty="0"/>
              <a:t>21.12.2024</a:t>
            </a:r>
          </a:p>
        </p:txBody>
      </p:sp>
      <p:sp>
        <p:nvSpPr>
          <p:cNvPr id="4" name="Footer Placeholder 3"/>
          <p:cNvSpPr>
            <a:spLocks noGrp="1"/>
          </p:cNvSpPr>
          <p:nvPr>
            <p:ph type="ftr" idx="11"/>
          </p:nvPr>
        </p:nvSpPr>
        <p:spPr>
          <a:xfrm>
            <a:off x="2397618" y="4816224"/>
            <a:ext cx="4348765" cy="131044"/>
          </a:xfrm>
        </p:spPr>
        <p:txBody>
          <a:bodyPr/>
          <a:lstStyle/>
          <a:p>
            <a:r>
              <a:rPr lang="en-US" dirty="0"/>
              <a:t>Department of Computer Science and Engineering</a:t>
            </a:r>
          </a:p>
        </p:txBody>
      </p:sp>
    </p:spTree>
    <p:extLst>
      <p:ext uri="{BB962C8B-B14F-4D97-AF65-F5344CB8AC3E}">
        <p14:creationId xmlns:p14="http://schemas.microsoft.com/office/powerpoint/2010/main" val="4211881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Bookman Old Style" panose="02050604050505020204" pitchFamily="18" charset="0"/>
              </a:rPr>
              <a:t>6</a:t>
            </a:fld>
            <a:endParaRPr>
              <a:latin typeface="Bookman Old Style" panose="02050604050505020204" pitchFamily="18" charset="0"/>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Bookman Old Style" panose="02050604050505020204" pitchFamily="18" charset="0"/>
              <a:ea typeface="Trebuchet MS"/>
              <a:cs typeface="Trebuchet MS"/>
              <a:sym typeface="Trebuchet MS"/>
            </a:endParaRPr>
          </a:p>
        </p:txBody>
      </p:sp>
      <p:sp>
        <p:nvSpPr>
          <p:cNvPr id="2" name="Title 1"/>
          <p:cNvSpPr>
            <a:spLocks noGrp="1"/>
          </p:cNvSpPr>
          <p:nvPr>
            <p:ph type="title"/>
          </p:nvPr>
        </p:nvSpPr>
        <p:spPr>
          <a:xfrm>
            <a:off x="528917" y="652042"/>
            <a:ext cx="6117431" cy="627321"/>
          </a:xfrm>
        </p:spPr>
        <p:txBody>
          <a:bodyPr/>
          <a:lstStyle/>
          <a:p>
            <a:r>
              <a:rPr lang="en-US" sz="3600" dirty="0">
                <a:latin typeface="Bookman Old Style" panose="02050604050505020204" pitchFamily="18" charset="0"/>
              </a:rPr>
              <a:t>Problem Statement</a:t>
            </a:r>
          </a:p>
        </p:txBody>
      </p:sp>
      <p:sp>
        <p:nvSpPr>
          <p:cNvPr id="14" name="TextBox 13"/>
          <p:cNvSpPr txBox="1"/>
          <p:nvPr/>
        </p:nvSpPr>
        <p:spPr>
          <a:xfrm>
            <a:off x="528917" y="1373282"/>
            <a:ext cx="7881602" cy="3108543"/>
          </a:xfrm>
          <a:prstGeom prst="rect">
            <a:avLst/>
          </a:prstGeom>
          <a:noFill/>
        </p:spPr>
        <p:txBody>
          <a:bodyPr wrap="square" lIns="91440" tIns="45720" rIns="91440" bIns="45720" rtlCol="0" anchor="t">
            <a:spAutoFit/>
          </a:bodyPr>
          <a:lstStyle/>
          <a:p>
            <a:endParaRPr lang="en-US" dirty="0"/>
          </a:p>
          <a:p>
            <a:r>
              <a:rPr lang="en-US" dirty="0"/>
              <a:t>	Existing certificate verification systems rely on centralized databases or digital signatures that are susceptible to replay attacks, key compromise, and forgery. Moreover, cloud-based verification often lacks end-to-end data integrity at the molecular level.</a:t>
            </a:r>
          </a:p>
          <a:p>
            <a:endParaRPr lang="en-US" b="1" dirty="0"/>
          </a:p>
          <a:p>
            <a:r>
              <a:rPr lang="en-US" b="1" dirty="0"/>
              <a:t>	Our solution</a:t>
            </a:r>
            <a:r>
              <a:rPr lang="en-US" dirty="0"/>
              <a:t> applies </a:t>
            </a:r>
            <a:r>
              <a:rPr lang="en-US" b="1" dirty="0"/>
              <a:t>DNA cryptography</a:t>
            </a:r>
            <a:r>
              <a:rPr lang="en-US" dirty="0"/>
              <a:t> to convert certificate metadata (e.g., name, ID, issue date, hash) into a quaternary sequence (A, T, C, G). This encoded strand acts as a </a:t>
            </a:r>
            <a:r>
              <a:rPr lang="en-US" b="1" dirty="0"/>
              <a:t>unique biological fingerprint</a:t>
            </a:r>
            <a:r>
              <a:rPr lang="en-US" dirty="0"/>
              <a:t>, stored and verified in the cloud.</a:t>
            </a:r>
          </a:p>
          <a:p>
            <a:endParaRPr lang="en-US" dirty="0"/>
          </a:p>
          <a:p>
            <a:r>
              <a:rPr lang="en-US" b="1" dirty="0"/>
              <a:t>Improved parameters</a:t>
            </a:r>
            <a:r>
              <a:rPr lang="en-US" dirty="0"/>
              <a:t>:</a:t>
            </a:r>
          </a:p>
          <a:p>
            <a:endParaRPr lang="en-US" dirty="0"/>
          </a:p>
          <a:p>
            <a:pPr marL="342900" indent="-342900">
              <a:buFont typeface="+mj-lt"/>
              <a:buAutoNum type="arabicPeriod"/>
            </a:pPr>
            <a:r>
              <a:rPr lang="en-US" b="1" dirty="0"/>
              <a:t>Security</a:t>
            </a:r>
            <a:r>
              <a:rPr lang="en-US" dirty="0"/>
              <a:t>: Quantum-resistant encoding</a:t>
            </a:r>
          </a:p>
          <a:p>
            <a:pPr marL="342900" indent="-342900">
              <a:buFont typeface="+mj-lt"/>
              <a:buAutoNum type="arabicPeriod"/>
            </a:pPr>
            <a:r>
              <a:rPr lang="en-US" b="1" dirty="0"/>
              <a:t>Integrity</a:t>
            </a:r>
            <a:r>
              <a:rPr lang="en-US" dirty="0"/>
              <a:t>: Any tampering alters the DNA sequence, detectable via alignment algorithms</a:t>
            </a:r>
          </a:p>
          <a:p>
            <a:pPr marL="342900" indent="-342900">
              <a:buFont typeface="+mj-lt"/>
              <a:buAutoNum type="arabicPeriod"/>
            </a:pPr>
            <a:r>
              <a:rPr lang="en-US" b="1" dirty="0"/>
              <a:t>Storage efficiency</a:t>
            </a:r>
            <a:r>
              <a:rPr lang="en-US" dirty="0"/>
              <a:t>: 1 gram of DNA ≈ 215 petabytes of data</a:t>
            </a:r>
          </a:p>
        </p:txBody>
      </p:sp>
      <p:sp>
        <p:nvSpPr>
          <p:cNvPr id="10" name="Footer Placeholder 9"/>
          <p:cNvSpPr>
            <a:spLocks noGrp="1"/>
          </p:cNvSpPr>
          <p:nvPr>
            <p:ph type="ftr" idx="11"/>
          </p:nvPr>
        </p:nvSpPr>
        <p:spPr>
          <a:xfrm>
            <a:off x="2741676" y="4818966"/>
            <a:ext cx="3660648" cy="170496"/>
          </a:xfrm>
        </p:spPr>
        <p:txBody>
          <a:bodyPr/>
          <a:lstStyle/>
          <a:p>
            <a:r>
              <a:rPr lang="en-US" dirty="0"/>
              <a:t>Department of Computer Science and Engineering</a:t>
            </a:r>
          </a:p>
        </p:txBody>
      </p:sp>
      <p:sp>
        <p:nvSpPr>
          <p:cNvPr id="4" name="TextBox 3">
            <a:extLst>
              <a:ext uri="{FF2B5EF4-FFF2-40B4-BE49-F238E27FC236}">
                <a16:creationId xmlns:a16="http://schemas.microsoft.com/office/drawing/2014/main" id="{AB0507A7-011F-E588-C6E9-88CEF4B8DBFC}"/>
              </a:ext>
            </a:extLst>
          </p:cNvPr>
          <p:cNvSpPr txBox="1"/>
          <p:nvPr/>
        </p:nvSpPr>
        <p:spPr>
          <a:xfrm>
            <a:off x="365760" y="4681685"/>
            <a:ext cx="1170432" cy="276999"/>
          </a:xfrm>
          <a:prstGeom prst="rect">
            <a:avLst/>
          </a:prstGeom>
          <a:noFill/>
        </p:spPr>
        <p:txBody>
          <a:bodyPr wrap="square">
            <a:spAutoFit/>
          </a:bodyPr>
          <a:lstStyle/>
          <a:p>
            <a:r>
              <a:rPr lang="en-US" sz="1200" dirty="0">
                <a:solidFill>
                  <a:schemeClr val="bg1">
                    <a:lumMod val="50000"/>
                  </a:schemeClr>
                </a:solidFill>
              </a:rPr>
              <a:t>21.12.2024</a:t>
            </a:r>
            <a:endParaRPr lang="en-IN" sz="1200" dirty="0">
              <a:solidFill>
                <a:schemeClr val="bg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8E48032A-2ACE-55C8-1293-DCE77E129896}"/>
            </a:ext>
          </a:extLst>
        </p:cNvPr>
        <p:cNvGrpSpPr/>
        <p:nvPr/>
      </p:nvGrpSpPr>
      <p:grpSpPr>
        <a:xfrm>
          <a:off x="0" y="0"/>
          <a:ext cx="0" cy="0"/>
          <a:chOff x="0" y="0"/>
          <a:chExt cx="0" cy="0"/>
        </a:xfrm>
      </p:grpSpPr>
      <p:sp>
        <p:nvSpPr>
          <p:cNvPr id="119" name="Google Shape;119;p1">
            <a:extLst>
              <a:ext uri="{FF2B5EF4-FFF2-40B4-BE49-F238E27FC236}">
                <a16:creationId xmlns:a16="http://schemas.microsoft.com/office/drawing/2014/main" id="{050BB330-ABD3-B8D2-FAB4-404AE06F591F}"/>
              </a:ext>
            </a:extLst>
          </p:cNvPr>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Bookman Old Style" panose="02050604050505020204" pitchFamily="18" charset="0"/>
              </a:rPr>
              <a:t>7</a:t>
            </a:fld>
            <a:endParaRPr>
              <a:latin typeface="Bookman Old Style" panose="02050604050505020204" pitchFamily="18" charset="0"/>
            </a:endParaRPr>
          </a:p>
        </p:txBody>
      </p:sp>
      <p:sp>
        <p:nvSpPr>
          <p:cNvPr id="120" name="Google Shape;120;p1">
            <a:extLst>
              <a:ext uri="{FF2B5EF4-FFF2-40B4-BE49-F238E27FC236}">
                <a16:creationId xmlns:a16="http://schemas.microsoft.com/office/drawing/2014/main" id="{B08AE1CB-EDF2-491D-83B1-AB37532077CD}"/>
              </a:ext>
            </a:extLst>
          </p:cNvPr>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Bookman Old Style" panose="02050604050505020204" pitchFamily="18" charset="0"/>
              <a:ea typeface="Trebuchet MS"/>
              <a:cs typeface="Trebuchet MS"/>
              <a:sym typeface="Trebuchet MS"/>
            </a:endParaRPr>
          </a:p>
        </p:txBody>
      </p:sp>
      <p:sp>
        <p:nvSpPr>
          <p:cNvPr id="2" name="Title 1">
            <a:extLst>
              <a:ext uri="{FF2B5EF4-FFF2-40B4-BE49-F238E27FC236}">
                <a16:creationId xmlns:a16="http://schemas.microsoft.com/office/drawing/2014/main" id="{261B6EA4-B6CC-F4D0-56F0-70F7684DCA3F}"/>
              </a:ext>
            </a:extLst>
          </p:cNvPr>
          <p:cNvSpPr>
            <a:spLocks noGrp="1"/>
          </p:cNvSpPr>
          <p:nvPr>
            <p:ph type="title"/>
          </p:nvPr>
        </p:nvSpPr>
        <p:spPr>
          <a:xfrm>
            <a:off x="65484" y="633531"/>
            <a:ext cx="6117431" cy="646591"/>
          </a:xfrm>
        </p:spPr>
        <p:txBody>
          <a:bodyPr/>
          <a:lstStyle/>
          <a:p>
            <a:r>
              <a:rPr lang="en-US" sz="3600">
                <a:latin typeface="Bookman Old Style"/>
              </a:rPr>
              <a:t>Objective</a:t>
            </a:r>
            <a:r>
              <a:rPr lang="en-IN" sz="3600">
                <a:latin typeface="Bookman Old Style"/>
              </a:rPr>
              <a:t>s</a:t>
            </a:r>
            <a:br>
              <a:rPr lang="en-US" sz="3600">
                <a:latin typeface="Bookman Old Style"/>
              </a:rPr>
            </a:br>
            <a:endParaRPr lang="en-US" sz="3600">
              <a:latin typeface="Bookman Old Style"/>
            </a:endParaRPr>
          </a:p>
        </p:txBody>
      </p:sp>
      <p:sp>
        <p:nvSpPr>
          <p:cNvPr id="14" name="TextBox 13">
            <a:extLst>
              <a:ext uri="{FF2B5EF4-FFF2-40B4-BE49-F238E27FC236}">
                <a16:creationId xmlns:a16="http://schemas.microsoft.com/office/drawing/2014/main" id="{26895A06-0166-12ED-0DBB-A6A1024ACAB3}"/>
              </a:ext>
            </a:extLst>
          </p:cNvPr>
          <p:cNvSpPr txBox="1"/>
          <p:nvPr/>
        </p:nvSpPr>
        <p:spPr>
          <a:xfrm>
            <a:off x="714970" y="1088507"/>
            <a:ext cx="7743229" cy="2462213"/>
          </a:xfrm>
          <a:prstGeom prst="rect">
            <a:avLst/>
          </a:prstGeom>
          <a:noFill/>
        </p:spPr>
        <p:txBody>
          <a:bodyPr wrap="square" lIns="91440" tIns="45720" rIns="91440" bIns="45720" rtlCol="0" anchor="t">
            <a:spAutoFit/>
          </a:bodyPr>
          <a:lstStyle/>
          <a:p>
            <a:r>
              <a:rPr lang="en-IN" dirty="0"/>
              <a:t>	The objective is to design and implement a </a:t>
            </a:r>
            <a:r>
              <a:rPr lang="en-IN" b="1" dirty="0"/>
              <a:t>secure, scalable, and verifiable cloud system</a:t>
            </a:r>
            <a:r>
              <a:rPr lang="en-IN" dirty="0"/>
              <a:t> for digital certificates using </a:t>
            </a:r>
            <a:r>
              <a:rPr lang="en-IN" b="1" dirty="0"/>
              <a:t>DNA-based cryptographic encoding</a:t>
            </a:r>
            <a:r>
              <a:rPr lang="en-IN" dirty="0"/>
              <a:t>. This work addresses limitations in current literature—particularly the lack of </a:t>
            </a:r>
            <a:r>
              <a:rPr lang="en-IN" b="1" dirty="0"/>
              <a:t>bio-inspired, post-quantum security</a:t>
            </a:r>
            <a:r>
              <a:rPr lang="en-IN" dirty="0"/>
              <a:t> in credential systems—by integrating synthetic biology principles with cloud computing.</a:t>
            </a:r>
          </a:p>
          <a:p>
            <a:endParaRPr lang="en-IN" dirty="0"/>
          </a:p>
          <a:p>
            <a:r>
              <a:rPr lang="en-IN" dirty="0"/>
              <a:t>Our </a:t>
            </a:r>
            <a:r>
              <a:rPr lang="en-IN" b="1" dirty="0"/>
              <a:t>proposed method</a:t>
            </a:r>
            <a:r>
              <a:rPr lang="en-IN" dirty="0"/>
              <a:t> replaces conventional encryption with a </a:t>
            </a:r>
            <a:r>
              <a:rPr lang="en-IN" b="1" dirty="0"/>
              <a:t>custom DNA codec</a:t>
            </a:r>
            <a:r>
              <a:rPr lang="en-IN" dirty="0"/>
              <a:t>:</a:t>
            </a:r>
          </a:p>
          <a:p>
            <a:endParaRPr lang="en-IN" dirty="0"/>
          </a:p>
          <a:p>
            <a:pPr marL="285750" indent="-285750">
              <a:buFont typeface="Arial" panose="020B0604020202020204" pitchFamily="34" charset="0"/>
              <a:buChar char="•"/>
            </a:pPr>
            <a:r>
              <a:rPr lang="en-IN" dirty="0"/>
              <a:t>Map binary certificate data → nucleotide bases (e.g., 00=A, 01=T, 10=C, 11=G)</a:t>
            </a:r>
          </a:p>
          <a:p>
            <a:pPr marL="285750" indent="-285750">
              <a:buFont typeface="Arial" panose="020B0604020202020204" pitchFamily="34" charset="0"/>
              <a:buChar char="•"/>
            </a:pPr>
            <a:r>
              <a:rPr lang="en-IN" dirty="0"/>
              <a:t>Apply complementary strand generation (A↔T, C↔G) for redundancy</a:t>
            </a:r>
          </a:p>
          <a:p>
            <a:pPr marL="285750" indent="-285750">
              <a:buFont typeface="Arial" panose="020B0604020202020204" pitchFamily="34" charset="0"/>
              <a:buChar char="•"/>
            </a:pPr>
            <a:r>
              <a:rPr lang="en-IN" dirty="0"/>
              <a:t>Store encrypted DNA sequence in cloud (e.g., AWS S3) with access-controlled API</a:t>
            </a:r>
          </a:p>
          <a:p>
            <a:pPr marL="285750" indent="-285750">
              <a:buFont typeface="Arial" panose="020B0604020202020204" pitchFamily="34" charset="0"/>
              <a:buChar char="•"/>
            </a:pPr>
            <a:r>
              <a:rPr lang="en-IN" dirty="0"/>
              <a:t>Verification involves DNA-to-binary decoding and SHA-256 hash comparison.</a:t>
            </a:r>
          </a:p>
        </p:txBody>
      </p:sp>
      <p:sp>
        <p:nvSpPr>
          <p:cNvPr id="9" name="Date Placeholder 8">
            <a:extLst>
              <a:ext uri="{FF2B5EF4-FFF2-40B4-BE49-F238E27FC236}">
                <a16:creationId xmlns:a16="http://schemas.microsoft.com/office/drawing/2014/main" id="{6D22C87E-D36A-0C2B-3E33-13A3B663E83B}"/>
              </a:ext>
            </a:extLst>
          </p:cNvPr>
          <p:cNvSpPr>
            <a:spLocks noGrp="1"/>
          </p:cNvSpPr>
          <p:nvPr>
            <p:ph type="dt" idx="10"/>
          </p:nvPr>
        </p:nvSpPr>
        <p:spPr/>
        <p:txBody>
          <a:bodyPr/>
          <a:lstStyle/>
          <a:p>
            <a:r>
              <a:rPr lang="en-US" dirty="0"/>
              <a:t>21.12.2024</a:t>
            </a:r>
          </a:p>
        </p:txBody>
      </p:sp>
      <p:sp>
        <p:nvSpPr>
          <p:cNvPr id="10" name="Footer Placeholder 9">
            <a:extLst>
              <a:ext uri="{FF2B5EF4-FFF2-40B4-BE49-F238E27FC236}">
                <a16:creationId xmlns:a16="http://schemas.microsoft.com/office/drawing/2014/main" id="{D01FB728-42A0-9EBA-19CF-2BB39B28F32D}"/>
              </a:ext>
            </a:extLst>
          </p:cNvPr>
          <p:cNvSpPr>
            <a:spLocks noGrp="1"/>
          </p:cNvSpPr>
          <p:nvPr>
            <p:ph type="ftr" idx="11"/>
          </p:nvPr>
        </p:nvSpPr>
        <p:spPr>
          <a:xfrm>
            <a:off x="2892552" y="4785552"/>
            <a:ext cx="3358896" cy="273900"/>
          </a:xfrm>
        </p:spPr>
        <p:txBody>
          <a:bodyPr/>
          <a:lstStyle/>
          <a:p>
            <a:r>
              <a:rPr lang="en-US" dirty="0"/>
              <a:t>Department of Computer Science and Engineering</a:t>
            </a:r>
          </a:p>
        </p:txBody>
      </p:sp>
    </p:spTree>
    <p:extLst>
      <p:ext uri="{BB962C8B-B14F-4D97-AF65-F5344CB8AC3E}">
        <p14:creationId xmlns:p14="http://schemas.microsoft.com/office/powerpoint/2010/main" val="162856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E16C757D-2D9F-44A6-4675-ED18D2ACFED5}"/>
            </a:ext>
          </a:extLst>
        </p:cNvPr>
        <p:cNvGrpSpPr/>
        <p:nvPr/>
      </p:nvGrpSpPr>
      <p:grpSpPr>
        <a:xfrm>
          <a:off x="0" y="0"/>
          <a:ext cx="0" cy="0"/>
          <a:chOff x="0" y="0"/>
          <a:chExt cx="0" cy="0"/>
        </a:xfrm>
      </p:grpSpPr>
      <p:sp>
        <p:nvSpPr>
          <p:cNvPr id="119" name="Google Shape;119;p1">
            <a:extLst>
              <a:ext uri="{FF2B5EF4-FFF2-40B4-BE49-F238E27FC236}">
                <a16:creationId xmlns:a16="http://schemas.microsoft.com/office/drawing/2014/main" id="{F7E71D1A-3F0B-BB99-1081-B209F4C04918}"/>
              </a:ext>
            </a:extLst>
          </p:cNvPr>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Bookman Old Style" panose="02050604050505020204" pitchFamily="18" charset="0"/>
              </a:rPr>
              <a:t>8</a:t>
            </a:fld>
            <a:endParaRPr>
              <a:latin typeface="Bookman Old Style" panose="02050604050505020204" pitchFamily="18" charset="0"/>
            </a:endParaRPr>
          </a:p>
        </p:txBody>
      </p:sp>
      <p:sp>
        <p:nvSpPr>
          <p:cNvPr id="120" name="Google Shape;120;p1">
            <a:extLst>
              <a:ext uri="{FF2B5EF4-FFF2-40B4-BE49-F238E27FC236}">
                <a16:creationId xmlns:a16="http://schemas.microsoft.com/office/drawing/2014/main" id="{B2EB74FE-11B0-92BA-3EDB-F22F0A65450C}"/>
              </a:ext>
            </a:extLst>
          </p:cNvPr>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Bookman Old Style" panose="02050604050505020204" pitchFamily="18" charset="0"/>
              <a:ea typeface="Trebuchet MS"/>
              <a:cs typeface="Trebuchet MS"/>
              <a:sym typeface="Trebuchet MS"/>
            </a:endParaRPr>
          </a:p>
        </p:txBody>
      </p:sp>
      <p:sp>
        <p:nvSpPr>
          <p:cNvPr id="2" name="Title 1">
            <a:extLst>
              <a:ext uri="{FF2B5EF4-FFF2-40B4-BE49-F238E27FC236}">
                <a16:creationId xmlns:a16="http://schemas.microsoft.com/office/drawing/2014/main" id="{EE1BE980-F3C6-7C3E-B5CD-7BA488425001}"/>
              </a:ext>
            </a:extLst>
          </p:cNvPr>
          <p:cNvSpPr>
            <a:spLocks noGrp="1"/>
          </p:cNvSpPr>
          <p:nvPr>
            <p:ph type="title"/>
          </p:nvPr>
        </p:nvSpPr>
        <p:spPr>
          <a:xfrm>
            <a:off x="1045344" y="553503"/>
            <a:ext cx="6117431" cy="1105647"/>
          </a:xfrm>
        </p:spPr>
        <p:txBody>
          <a:bodyPr/>
          <a:lstStyle/>
          <a:p>
            <a:r>
              <a:rPr lang="en-US" sz="3600" dirty="0">
                <a:latin typeface="Bookman Old Style"/>
              </a:rPr>
              <a:t>    Proposed Methodology</a:t>
            </a:r>
            <a:br>
              <a:rPr lang="en-US" sz="3600" dirty="0">
                <a:latin typeface="Bookman Old Style"/>
              </a:rPr>
            </a:br>
            <a:br>
              <a:rPr lang="en-US" sz="3600" dirty="0">
                <a:latin typeface="Bookman Old Style" panose="02050604050505020204" pitchFamily="18" charset="0"/>
              </a:rPr>
            </a:br>
            <a:endParaRPr lang="en-US" sz="3600" dirty="0">
              <a:latin typeface="Bookman Old Style" panose="02050604050505020204" pitchFamily="18" charset="0"/>
            </a:endParaRPr>
          </a:p>
        </p:txBody>
      </p:sp>
      <p:sp>
        <p:nvSpPr>
          <p:cNvPr id="9" name="Date Placeholder 8">
            <a:extLst>
              <a:ext uri="{FF2B5EF4-FFF2-40B4-BE49-F238E27FC236}">
                <a16:creationId xmlns:a16="http://schemas.microsoft.com/office/drawing/2014/main" id="{4BFF65C5-15C0-BF7D-3A02-ED22F9630562}"/>
              </a:ext>
            </a:extLst>
          </p:cNvPr>
          <p:cNvSpPr>
            <a:spLocks noGrp="1"/>
          </p:cNvSpPr>
          <p:nvPr>
            <p:ph type="dt" idx="10"/>
          </p:nvPr>
        </p:nvSpPr>
        <p:spPr/>
        <p:txBody>
          <a:bodyPr/>
          <a:lstStyle/>
          <a:p>
            <a:r>
              <a:rPr lang="en-US" dirty="0"/>
              <a:t>21.12.2024</a:t>
            </a:r>
          </a:p>
        </p:txBody>
      </p:sp>
      <p:sp>
        <p:nvSpPr>
          <p:cNvPr id="10" name="Footer Placeholder 9">
            <a:extLst>
              <a:ext uri="{FF2B5EF4-FFF2-40B4-BE49-F238E27FC236}">
                <a16:creationId xmlns:a16="http://schemas.microsoft.com/office/drawing/2014/main" id="{F325295C-9241-F974-47BE-2A8A271009C9}"/>
              </a:ext>
            </a:extLst>
          </p:cNvPr>
          <p:cNvSpPr>
            <a:spLocks noGrp="1"/>
          </p:cNvSpPr>
          <p:nvPr>
            <p:ph type="ftr" idx="11"/>
          </p:nvPr>
        </p:nvSpPr>
        <p:spPr/>
        <p:txBody>
          <a:bodyPr/>
          <a:lstStyle/>
          <a:p>
            <a:r>
              <a:rPr lang="en-US"/>
              <a:t>Department of Computer Science and Engineering</a:t>
            </a:r>
          </a:p>
        </p:txBody>
      </p:sp>
      <p:sp>
        <p:nvSpPr>
          <p:cNvPr id="4" name="TextBox 3">
            <a:extLst>
              <a:ext uri="{FF2B5EF4-FFF2-40B4-BE49-F238E27FC236}">
                <a16:creationId xmlns:a16="http://schemas.microsoft.com/office/drawing/2014/main" id="{41BB6E34-A5C4-927C-324C-762A481D5399}"/>
              </a:ext>
            </a:extLst>
          </p:cNvPr>
          <p:cNvSpPr txBox="1"/>
          <p:nvPr/>
        </p:nvSpPr>
        <p:spPr>
          <a:xfrm>
            <a:off x="763715" y="1204005"/>
            <a:ext cx="7413170"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b="1" dirty="0"/>
              <a:t>System Architecture:</a:t>
            </a:r>
          </a:p>
          <a:p>
            <a:r>
              <a:rPr lang="en-IN" b="1" dirty="0"/>
              <a:t>User Portal</a:t>
            </a:r>
            <a:r>
              <a:rPr lang="en-IN" dirty="0"/>
              <a:t>: Web interface for certificate upload/request.</a:t>
            </a:r>
          </a:p>
          <a:p>
            <a:r>
              <a:rPr lang="en-IN" b="1" dirty="0"/>
              <a:t>DNA Encoder</a:t>
            </a:r>
            <a:r>
              <a:rPr lang="en-IN" dirty="0"/>
              <a:t>: Converts certificate metadata + digital hash into synthetic DNA strand.</a:t>
            </a:r>
          </a:p>
          <a:p>
            <a:r>
              <a:rPr lang="en-IN" b="1" dirty="0"/>
              <a:t>Cloud Storage</a:t>
            </a:r>
            <a:r>
              <a:rPr lang="en-IN" dirty="0"/>
              <a:t>: Securely stores encrypted DNA sequences and metadata.</a:t>
            </a:r>
          </a:p>
          <a:p>
            <a:r>
              <a:rPr lang="en-IN" b="1" dirty="0"/>
              <a:t>Verification Engine</a:t>
            </a:r>
            <a:r>
              <a:rPr lang="en-IN" dirty="0"/>
              <a:t>:</a:t>
            </a:r>
          </a:p>
          <a:p>
            <a:pPr lvl="1"/>
            <a:r>
              <a:rPr lang="en-IN" dirty="0"/>
              <a:t>Retrieves DNA strand</a:t>
            </a:r>
          </a:p>
          <a:p>
            <a:pPr lvl="1"/>
            <a:r>
              <a:rPr lang="en-IN" dirty="0"/>
              <a:t>Decodes to binary</a:t>
            </a:r>
          </a:p>
          <a:p>
            <a:pPr lvl="1"/>
            <a:r>
              <a:rPr lang="en-IN" dirty="0"/>
              <a:t>Validates against original certificate hash</a:t>
            </a:r>
          </a:p>
          <a:p>
            <a:r>
              <a:rPr lang="en-IN" b="1" dirty="0"/>
              <a:t>Admin Dashboard</a:t>
            </a:r>
            <a:r>
              <a:rPr lang="en-IN" dirty="0"/>
              <a:t>: For issuing authorities to manage credentials.</a:t>
            </a:r>
          </a:p>
          <a:p>
            <a:r>
              <a:rPr lang="en-IN" b="1" dirty="0"/>
              <a:t>DNA Cryptographic Workflow:</a:t>
            </a:r>
          </a:p>
          <a:p>
            <a:r>
              <a:rPr lang="en-IN" b="1" dirty="0"/>
              <a:t>Step 1</a:t>
            </a:r>
            <a:r>
              <a:rPr lang="en-IN" dirty="0"/>
              <a:t>: Hash certificate using SHA-256 → H</a:t>
            </a:r>
          </a:p>
          <a:p>
            <a:r>
              <a:rPr lang="en-IN" b="1" dirty="0"/>
              <a:t>Step 2</a:t>
            </a:r>
            <a:r>
              <a:rPr lang="en-IN" dirty="0"/>
              <a:t>: Concatenate (Name | ID | Date | H) → binary string B</a:t>
            </a:r>
          </a:p>
          <a:p>
            <a:r>
              <a:rPr lang="en-IN" b="1" dirty="0"/>
              <a:t>Step 3</a:t>
            </a:r>
            <a:r>
              <a:rPr lang="en-IN" dirty="0"/>
              <a:t>: Encode B into DNA sequence D using 2-bit mapping</a:t>
            </a:r>
          </a:p>
          <a:p>
            <a:r>
              <a:rPr lang="en-IN" b="1" dirty="0"/>
              <a:t>Step 4</a:t>
            </a:r>
            <a:r>
              <a:rPr lang="en-IN" dirty="0"/>
              <a:t>: Generate complementary strand D' (for error detection)</a:t>
            </a:r>
          </a:p>
          <a:p>
            <a:r>
              <a:rPr lang="en-IN" b="1" dirty="0"/>
              <a:t>Step 5</a:t>
            </a:r>
            <a:r>
              <a:rPr lang="en-IN" dirty="0"/>
              <a:t>: Store (D, D') in cloud with UUID</a:t>
            </a:r>
          </a:p>
          <a:p>
            <a:r>
              <a:rPr lang="en-IN" b="1" dirty="0"/>
              <a:t>Step 6</a:t>
            </a:r>
            <a:r>
              <a:rPr lang="en-IN" dirty="0"/>
              <a:t>: On verification, decode D → B', recompute hash, and compare</a:t>
            </a:r>
          </a:p>
          <a:p>
            <a:r>
              <a:rPr lang="en-IN" b="1" dirty="0"/>
              <a:t>Security Note</a:t>
            </a:r>
            <a:r>
              <a:rPr lang="en-IN" dirty="0"/>
              <a:t>: No private keys are used—security derives from </a:t>
            </a:r>
            <a:r>
              <a:rPr lang="en-IN" b="1" dirty="0"/>
              <a:t>computational infeasibility</a:t>
            </a:r>
            <a:r>
              <a:rPr lang="en-IN" dirty="0"/>
              <a:t> of guessing valid DNA sequences and </a:t>
            </a:r>
            <a:r>
              <a:rPr lang="en-IN" b="1" dirty="0"/>
              <a:t>biological noise sensitivity</a:t>
            </a:r>
            <a:r>
              <a:rPr lang="en-IN" dirty="0"/>
              <a:t>.</a:t>
            </a:r>
          </a:p>
          <a:p>
            <a:pPr lvl="1"/>
            <a:endParaRPr lang="en-US" dirty="0"/>
          </a:p>
          <a:p>
            <a:pPr marL="228600" indent="-228600">
              <a:buAutoNum type="arabicPeriod"/>
            </a:pPr>
            <a:endParaRPr lang="en-US" dirty="0"/>
          </a:p>
          <a:p>
            <a:endParaRPr lang="en-US" dirty="0"/>
          </a:p>
          <a:p>
            <a:pPr algn="ctr"/>
            <a:endParaRPr lang="en-US" dirty="0"/>
          </a:p>
        </p:txBody>
      </p:sp>
    </p:spTree>
    <p:extLst>
      <p:ext uri="{BB962C8B-B14F-4D97-AF65-F5344CB8AC3E}">
        <p14:creationId xmlns:p14="http://schemas.microsoft.com/office/powerpoint/2010/main" val="2054586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a:ea typeface="Trebuchet MS"/>
              <a:cs typeface="Trebuchet MS"/>
              <a:sym typeface="Trebuchet MS"/>
            </a:endParaRPr>
          </a:p>
        </p:txBody>
      </p:sp>
      <p:sp>
        <p:nvSpPr>
          <p:cNvPr id="2" name="Title 1"/>
          <p:cNvSpPr>
            <a:spLocks noGrp="1"/>
          </p:cNvSpPr>
          <p:nvPr>
            <p:ph type="title"/>
          </p:nvPr>
        </p:nvSpPr>
        <p:spPr>
          <a:xfrm>
            <a:off x="701240" y="462870"/>
            <a:ext cx="6117431" cy="627321"/>
          </a:xfrm>
        </p:spPr>
        <p:txBody>
          <a:bodyPr/>
          <a:lstStyle/>
          <a:p>
            <a:r>
              <a:rPr lang="en-US" sz="3600">
                <a:latin typeface="Bookman Old Style" panose="02050604050505020204" pitchFamily="18" charset="0"/>
              </a:rPr>
              <a:t>Project Time Line</a:t>
            </a:r>
          </a:p>
        </p:txBody>
      </p:sp>
      <p:graphicFrame>
        <p:nvGraphicFramePr>
          <p:cNvPr id="4" name="Table 3"/>
          <p:cNvGraphicFramePr>
            <a:graphicFrameLocks noGrp="1"/>
          </p:cNvGraphicFramePr>
          <p:nvPr>
            <p:extLst>
              <p:ext uri="{D42A27DB-BD31-4B8C-83A1-F6EECF244321}">
                <p14:modId xmlns:p14="http://schemas.microsoft.com/office/powerpoint/2010/main" val="1727550040"/>
              </p:ext>
            </p:extLst>
          </p:nvPr>
        </p:nvGraphicFramePr>
        <p:xfrm>
          <a:off x="1123308" y="1279490"/>
          <a:ext cx="6602859" cy="3322320"/>
        </p:xfrm>
        <a:graphic>
          <a:graphicData uri="http://schemas.openxmlformats.org/drawingml/2006/table">
            <a:tbl>
              <a:tblPr firstRow="1" bandRow="1">
                <a:tableStyleId>{1D3205E1-8B83-452B-8570-0B3C4014EAE2}</a:tableStyleId>
              </a:tblPr>
              <a:tblGrid>
                <a:gridCol w="602750">
                  <a:extLst>
                    <a:ext uri="{9D8B030D-6E8A-4147-A177-3AD203B41FA5}">
                      <a16:colId xmlns:a16="http://schemas.microsoft.com/office/drawing/2014/main" val="20000"/>
                    </a:ext>
                  </a:extLst>
                </a:gridCol>
                <a:gridCol w="4099389">
                  <a:extLst>
                    <a:ext uri="{9D8B030D-6E8A-4147-A177-3AD203B41FA5}">
                      <a16:colId xmlns:a16="http://schemas.microsoft.com/office/drawing/2014/main" val="20001"/>
                    </a:ext>
                  </a:extLst>
                </a:gridCol>
                <a:gridCol w="1900720">
                  <a:extLst>
                    <a:ext uri="{9D8B030D-6E8A-4147-A177-3AD203B41FA5}">
                      <a16:colId xmlns:a16="http://schemas.microsoft.com/office/drawing/2014/main" val="20002"/>
                    </a:ext>
                  </a:extLst>
                </a:gridCol>
              </a:tblGrid>
              <a:tr h="370840">
                <a:tc>
                  <a:txBody>
                    <a:bodyPr/>
                    <a:lstStyle/>
                    <a:p>
                      <a:pPr algn="ctr"/>
                      <a:r>
                        <a:rPr lang="en-US" b="1" err="1"/>
                        <a:t>S.No</a:t>
                      </a:r>
                      <a:endParaRPr lang="en-US" b="1"/>
                    </a:p>
                  </a:txBody>
                  <a:tcPr/>
                </a:tc>
                <a:tc>
                  <a:txBody>
                    <a:bodyPr/>
                    <a:lstStyle/>
                    <a:p>
                      <a:pPr algn="ctr"/>
                      <a:r>
                        <a:rPr lang="en-US" b="1" dirty="0"/>
                        <a:t>Functionality</a:t>
                      </a:r>
                    </a:p>
                  </a:txBody>
                  <a:tcPr/>
                </a:tc>
                <a:tc>
                  <a:txBody>
                    <a:bodyPr/>
                    <a:lstStyle/>
                    <a:p>
                      <a:pPr algn="ctr"/>
                      <a:r>
                        <a:rPr lang="en-US" b="1" dirty="0"/>
                        <a:t>Status</a:t>
                      </a:r>
                    </a:p>
                    <a:p>
                      <a:pPr algn="ctr"/>
                      <a:r>
                        <a:rPr lang="en-US" sz="1000" b="1" dirty="0"/>
                        <a:t>(Completed /in-progress/Not</a:t>
                      </a:r>
                      <a:r>
                        <a:rPr lang="en-US" sz="1000" b="1" baseline="0" dirty="0"/>
                        <a:t> started)</a:t>
                      </a:r>
                      <a:endParaRPr lang="en-US" sz="1000" b="1" dirty="0"/>
                    </a:p>
                  </a:txBody>
                  <a:tcPr/>
                </a:tc>
                <a:extLst>
                  <a:ext uri="{0D108BD9-81ED-4DB2-BD59-A6C34878D82A}">
                    <a16:rowId xmlns:a16="http://schemas.microsoft.com/office/drawing/2014/main" val="10000"/>
                  </a:ext>
                </a:extLst>
              </a:tr>
              <a:tr h="370840">
                <a:tc>
                  <a:txBody>
                    <a:bodyPr/>
                    <a:lstStyle/>
                    <a:p>
                      <a:pPr marL="0" indent="0" algn="l">
                        <a:buNone/>
                      </a:pPr>
                      <a:r>
                        <a:rPr lang="en-US" dirty="0"/>
                        <a:t>1</a:t>
                      </a:r>
                    </a:p>
                  </a:txBody>
                  <a:tcPr/>
                </a:tc>
                <a:tc>
                  <a:txBody>
                    <a:bodyPr/>
                    <a:lstStyle/>
                    <a:p>
                      <a:pPr marL="0" lvl="0" indent="0" algn="l">
                        <a:lnSpc>
                          <a:spcPct val="100000"/>
                        </a:lnSpc>
                        <a:spcBef>
                          <a:spcPts val="0"/>
                        </a:spcBef>
                        <a:spcAft>
                          <a:spcPts val="0"/>
                        </a:spcAft>
                        <a:buNone/>
                      </a:pPr>
                      <a:r>
                        <a:rPr lang="en-US" sz="1400" b="1" i="0" u="none" strike="noStrike" noProof="0" dirty="0">
                          <a:latin typeface="Arial"/>
                        </a:rPr>
                        <a:t>Weeks 1–2:</a:t>
                      </a:r>
                      <a:r>
                        <a:rPr lang="en-US" sz="1400" b="0" i="0" u="none" strike="noStrike" noProof="0" dirty="0">
                          <a:latin typeface="Arial"/>
                        </a:rPr>
                        <a:t> Literature review and cryptographic algorithm selection</a:t>
                      </a:r>
                      <a:endParaRPr lang="en-US" dirty="0"/>
                    </a:p>
                    <a:p>
                      <a:pPr lvl="0">
                        <a:buNone/>
                      </a:pPr>
                      <a:endParaRPr lang="en-US" dirty="0"/>
                    </a:p>
                  </a:txBody>
                  <a:tcPr/>
                </a:tc>
                <a:tc>
                  <a:txBody>
                    <a:bodyPr/>
                    <a:lstStyle/>
                    <a:p>
                      <a:r>
                        <a:rPr lang="en-US" dirty="0"/>
                        <a:t>completed</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pPr marL="0" lvl="0" indent="0" algn="l">
                        <a:lnSpc>
                          <a:spcPct val="100000"/>
                        </a:lnSpc>
                        <a:spcBef>
                          <a:spcPts val="0"/>
                        </a:spcBef>
                        <a:spcAft>
                          <a:spcPts val="0"/>
                        </a:spcAft>
                        <a:buNone/>
                      </a:pPr>
                      <a:r>
                        <a:rPr lang="en-US" sz="1400" b="1" i="0" u="none" strike="noStrike" noProof="0" dirty="0">
                          <a:latin typeface="Arial"/>
                        </a:rPr>
                        <a:t>Weeks 3–4: </a:t>
                      </a:r>
                      <a:r>
                        <a:rPr lang="en-US" sz="1400" b="0" i="0" u="none" strike="noStrike" noProof="0" dirty="0">
                          <a:latin typeface="Arial"/>
                        </a:rPr>
                        <a:t>cloud environment setup and DNA coding</a:t>
                      </a:r>
                      <a:endParaRPr lang="en-US" b="0" dirty="0"/>
                    </a:p>
                  </a:txBody>
                  <a:tcPr/>
                </a:tc>
                <a:tc>
                  <a:txBody>
                    <a:bodyPr/>
                    <a:lstStyle/>
                    <a:p>
                      <a:r>
                        <a:rPr lang="en-US" dirty="0"/>
                        <a:t>In-progress</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pPr marL="0" lvl="0" indent="0" algn="l">
                        <a:lnSpc>
                          <a:spcPct val="100000"/>
                        </a:lnSpc>
                        <a:spcBef>
                          <a:spcPts val="0"/>
                        </a:spcBef>
                        <a:spcAft>
                          <a:spcPts val="0"/>
                        </a:spcAft>
                        <a:buNone/>
                      </a:pPr>
                      <a:r>
                        <a:rPr lang="en-US" sz="1400" b="1" i="0" u="none" strike="noStrike" noProof="0" dirty="0">
                          <a:latin typeface="Arial"/>
                        </a:rPr>
                        <a:t>Weeks 5–6:</a:t>
                      </a:r>
                      <a:r>
                        <a:rPr lang="en-US" sz="1400" b="0" i="0" u="none" strike="noStrike" noProof="0" dirty="0"/>
                        <a:t> system integration and verification  module development</a:t>
                      </a:r>
                      <a:endParaRPr lang="en-US" sz="1400" b="0" i="0" u="none" strike="noStrike" noProof="0" dirty="0">
                        <a:latin typeface="Arial"/>
                      </a:endParaRPr>
                    </a:p>
                    <a:p>
                      <a:pPr lvl="0">
                        <a:buNone/>
                      </a:pPr>
                      <a:endParaRPr lang="en-US" dirty="0"/>
                    </a:p>
                  </a:txBody>
                  <a:tcPr/>
                </a:tc>
                <a:tc>
                  <a:txBody>
                    <a:bodyPr/>
                    <a:lstStyle/>
                    <a:p>
                      <a:r>
                        <a:rPr lang="en-US" dirty="0"/>
                        <a:t>Not started</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pPr marL="0" lvl="0" indent="0" algn="l">
                        <a:lnSpc>
                          <a:spcPct val="100000"/>
                        </a:lnSpc>
                        <a:spcBef>
                          <a:spcPts val="0"/>
                        </a:spcBef>
                        <a:spcAft>
                          <a:spcPts val="0"/>
                        </a:spcAft>
                        <a:buNone/>
                      </a:pPr>
                      <a:r>
                        <a:rPr lang="en-US" sz="1400" b="1" i="0" u="none" strike="noStrike" noProof="0" dirty="0">
                          <a:latin typeface="Arial"/>
                        </a:rPr>
                        <a:t>Week 7: </a:t>
                      </a:r>
                      <a:r>
                        <a:rPr lang="en-US" sz="1400" b="0" i="0" u="none" strike="noStrike" noProof="0" dirty="0">
                          <a:latin typeface="Arial"/>
                        </a:rPr>
                        <a:t>security </a:t>
                      </a:r>
                      <a:r>
                        <a:rPr lang="en-US" sz="1400" b="0" i="0" u="none" strike="noStrike" noProof="0" dirty="0" err="1">
                          <a:latin typeface="Arial"/>
                        </a:rPr>
                        <a:t>testing,performance</a:t>
                      </a:r>
                      <a:r>
                        <a:rPr lang="en-US" sz="1400" b="0" i="0" u="none" strike="noStrike" noProof="0" dirty="0">
                          <a:latin typeface="Arial"/>
                        </a:rPr>
                        <a:t> analysis, and documentation</a:t>
                      </a:r>
                      <a:endParaRPr lang="en-US" b="0" dirty="0"/>
                    </a:p>
                    <a:p>
                      <a:pPr lvl="0">
                        <a:buNone/>
                      </a:pPr>
                      <a:endParaRPr lang="en-US" dirty="0"/>
                    </a:p>
                  </a:txBody>
                  <a:tcPr/>
                </a:tc>
                <a:tc>
                  <a:txBody>
                    <a:bodyPr/>
                    <a:lstStyle/>
                    <a:p>
                      <a:r>
                        <a:rPr lang="en-US" dirty="0"/>
                        <a:t>Not started</a:t>
                      </a:r>
                    </a:p>
                  </a:txBody>
                  <a:tcPr/>
                </a:tc>
                <a:extLst>
                  <a:ext uri="{0D108BD9-81ED-4DB2-BD59-A6C34878D82A}">
                    <a16:rowId xmlns:a16="http://schemas.microsoft.com/office/drawing/2014/main" val="10004"/>
                  </a:ext>
                </a:extLst>
              </a:tr>
            </a:tbl>
          </a:graphicData>
        </a:graphic>
      </p:graphicFrame>
      <p:sp>
        <p:nvSpPr>
          <p:cNvPr id="6" name="Date Placeholder 5"/>
          <p:cNvSpPr>
            <a:spLocks noGrp="1"/>
          </p:cNvSpPr>
          <p:nvPr>
            <p:ph type="dt" idx="10"/>
          </p:nvPr>
        </p:nvSpPr>
        <p:spPr/>
        <p:txBody>
          <a:bodyPr/>
          <a:lstStyle/>
          <a:p>
            <a:r>
              <a:rPr lang="en-US" dirty="0"/>
              <a:t>21.12.2024</a:t>
            </a:r>
          </a:p>
        </p:txBody>
      </p:sp>
      <p:sp>
        <p:nvSpPr>
          <p:cNvPr id="7" name="Footer Placeholder 6"/>
          <p:cNvSpPr>
            <a:spLocks noGrp="1"/>
          </p:cNvSpPr>
          <p:nvPr>
            <p:ph type="ftr" idx="11"/>
          </p:nvPr>
        </p:nvSpPr>
        <p:spPr/>
        <p:txBody>
          <a:bodyPr/>
          <a:lstStyle/>
          <a:p>
            <a:r>
              <a:rPr lang="en-US"/>
              <a:t>Department of Computer Science and Engineering</a:t>
            </a:r>
          </a:p>
        </p:txBody>
      </p:sp>
    </p:spTree>
    <p:extLst>
      <p:ext uri="{BB962C8B-B14F-4D97-AF65-F5344CB8AC3E}">
        <p14:creationId xmlns:p14="http://schemas.microsoft.com/office/powerpoint/2010/main" val="747321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9" name="Google Shape;119;p1"/>
          <p:cNvSpPr txBox="1">
            <a:spLocks noGrp="1"/>
          </p:cNvSpPr>
          <p:nvPr>
            <p:ph type="sldNum" idx="12"/>
          </p:nvPr>
        </p:nvSpPr>
        <p:spPr>
          <a:xfrm>
            <a:off x="6553200" y="4767264"/>
            <a:ext cx="2133600" cy="273900"/>
          </a:xfrm>
          <a:prstGeom prst="rect">
            <a:avLst/>
          </a:prstGeom>
          <a:noFill/>
          <a:ln>
            <a:noFill/>
          </a:ln>
        </p:spPr>
        <p:txBody>
          <a:bodyPr spcFirstLastPara="1" wrap="square" lIns="94100" tIns="47025" rIns="94100" bIns="470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20" name="Google Shape;120;p1"/>
          <p:cNvSpPr/>
          <p:nvPr/>
        </p:nvSpPr>
        <p:spPr>
          <a:xfrm>
            <a:off x="3415004" y="3219941"/>
            <a:ext cx="4572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endParaRPr sz="2000" b="0" i="0" u="none" strike="noStrike" cap="none">
              <a:solidFill>
                <a:srgbClr val="000000"/>
              </a:solidFill>
              <a:latin typeface="Trebuchet MS"/>
              <a:ea typeface="Trebuchet MS"/>
              <a:cs typeface="Trebuchet MS"/>
              <a:sym typeface="Trebuchet MS"/>
            </a:endParaRPr>
          </a:p>
        </p:txBody>
      </p:sp>
      <p:sp>
        <p:nvSpPr>
          <p:cNvPr id="2" name="Title 1"/>
          <p:cNvSpPr>
            <a:spLocks noGrp="1"/>
          </p:cNvSpPr>
          <p:nvPr>
            <p:ph type="title"/>
          </p:nvPr>
        </p:nvSpPr>
        <p:spPr>
          <a:xfrm>
            <a:off x="0" y="597956"/>
            <a:ext cx="6117431" cy="627321"/>
          </a:xfrm>
        </p:spPr>
        <p:txBody>
          <a:bodyPr/>
          <a:lstStyle/>
          <a:p>
            <a:r>
              <a:rPr lang="en-US" sz="3600" dirty="0">
                <a:latin typeface="Bookman Old Style" panose="02050604050505020204" pitchFamily="18" charset="0"/>
              </a:rPr>
              <a:t>References</a:t>
            </a:r>
          </a:p>
        </p:txBody>
      </p:sp>
      <p:sp>
        <p:nvSpPr>
          <p:cNvPr id="3" name="Date Placeholder 2"/>
          <p:cNvSpPr>
            <a:spLocks noGrp="1"/>
          </p:cNvSpPr>
          <p:nvPr>
            <p:ph type="dt" idx="10"/>
          </p:nvPr>
        </p:nvSpPr>
        <p:spPr/>
        <p:txBody>
          <a:bodyPr/>
          <a:lstStyle/>
          <a:p>
            <a:r>
              <a:rPr lang="en-US" dirty="0"/>
              <a:t>21.12.2024</a:t>
            </a:r>
          </a:p>
        </p:txBody>
      </p:sp>
      <p:sp>
        <p:nvSpPr>
          <p:cNvPr id="4" name="Footer Placeholder 3"/>
          <p:cNvSpPr>
            <a:spLocks noGrp="1"/>
          </p:cNvSpPr>
          <p:nvPr>
            <p:ph type="ftr" idx="11"/>
          </p:nvPr>
        </p:nvSpPr>
        <p:spPr>
          <a:xfrm>
            <a:off x="2280890" y="4630314"/>
            <a:ext cx="4044696" cy="273900"/>
          </a:xfrm>
        </p:spPr>
        <p:txBody>
          <a:bodyPr/>
          <a:lstStyle/>
          <a:p>
            <a:r>
              <a:rPr lang="en-US" dirty="0"/>
              <a:t>Department of Computer Science and Engineering</a:t>
            </a:r>
          </a:p>
        </p:txBody>
      </p:sp>
      <p:sp>
        <p:nvSpPr>
          <p:cNvPr id="5" name="TextBox 4">
            <a:extLst>
              <a:ext uri="{FF2B5EF4-FFF2-40B4-BE49-F238E27FC236}">
                <a16:creationId xmlns:a16="http://schemas.microsoft.com/office/drawing/2014/main" id="{0FAA0E4B-C012-2954-55B4-07EE9C3B4CA2}"/>
              </a:ext>
            </a:extLst>
          </p:cNvPr>
          <p:cNvSpPr txBox="1"/>
          <p:nvPr/>
        </p:nvSpPr>
        <p:spPr>
          <a:xfrm>
            <a:off x="1080614" y="1445261"/>
            <a:ext cx="6445249"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000" dirty="0"/>
              <a:t>1.Sharfuddin, N., Anwer, F., &amp; Ali, S. (2023). A Novel Cryptographic Technique for Cloud Environment Based on Feedback DNA. International Journal of Experimental Research and Review, 32, 323–339. </a:t>
            </a:r>
          </a:p>
          <a:p>
            <a:pPr algn="just"/>
            <a:r>
              <a:rPr lang="en-US" sz="1000" dirty="0">
                <a:hlinkClick r:id="rId3"/>
              </a:rPr>
              <a:t>https://doi.org/10.52756/ijerr.2023.v32.028</a:t>
            </a:r>
            <a:endParaRPr lang="en-US" sz="1000" dirty="0"/>
          </a:p>
          <a:p>
            <a:pPr algn="just"/>
            <a:endParaRPr lang="en-US" sz="1000" dirty="0"/>
          </a:p>
          <a:p>
            <a:pPr algn="just"/>
            <a:r>
              <a:rPr lang="en-US" sz="1000" dirty="0"/>
              <a:t>2.Singh, A., Kumar, A., &amp; </a:t>
            </a:r>
            <a:r>
              <a:rPr lang="en-US" sz="1000" dirty="0" err="1"/>
              <a:t>Namasudra</a:t>
            </a:r>
            <a:r>
              <a:rPr lang="en-US" sz="1000" dirty="0"/>
              <a:t>, S. (2023). DNACDS: Cloud IoE big data security and accessing scheme based on DNA cryptography. Frontiers of Computer Science, 18. </a:t>
            </a:r>
            <a:r>
              <a:rPr lang="en-US" sz="1000" dirty="0">
                <a:hlinkClick r:id="rId4"/>
              </a:rPr>
              <a:t>https://doi.org/10.1007/s11704-022-2193-3</a:t>
            </a:r>
            <a:br>
              <a:rPr lang="en-US" sz="1000" dirty="0"/>
            </a:br>
            <a:endParaRPr lang="en-US" sz="1000" dirty="0"/>
          </a:p>
          <a:p>
            <a:pPr algn="just"/>
            <a:r>
              <a:rPr lang="en-US" sz="1000" dirty="0"/>
              <a:t>3. Kumar, T., Kumar, P., &amp; </a:t>
            </a:r>
            <a:r>
              <a:rPr lang="en-US" sz="1000" dirty="0" err="1"/>
              <a:t>Namasudra</a:t>
            </a:r>
            <a:r>
              <a:rPr lang="en-US" sz="1000" dirty="0"/>
              <a:t>, S. (2024). User Revocation-Enabled Access Control Model Using Identity-Based Signature in the Cloud Computing Environment. International Journal of Interactive Multimedia and Artificial Intelligence, 9, 127. </a:t>
            </a:r>
            <a:r>
              <a:rPr lang="en-US" sz="1000" dirty="0">
                <a:hlinkClick r:id="rId5"/>
              </a:rPr>
              <a:t>http://dx.doi.org/10.9781/ijimai.2024.05.001</a:t>
            </a:r>
            <a:endParaRPr lang="en-US" sz="1000" dirty="0"/>
          </a:p>
          <a:p>
            <a:pPr algn="just"/>
            <a:endParaRPr lang="en-US" sz="1000" dirty="0"/>
          </a:p>
          <a:p>
            <a:pPr algn="just"/>
            <a:r>
              <a:rPr lang="en-US" sz="1000" dirty="0"/>
              <a:t>4. El Mane, A., Chihab, Y., &amp; </a:t>
            </a:r>
            <a:r>
              <a:rPr lang="en-US" sz="1000" dirty="0" err="1"/>
              <a:t>Korchiyne</a:t>
            </a:r>
            <a:r>
              <a:rPr lang="en-US" sz="1000" dirty="0"/>
              <a:t>, R. (2021). Digital Signature for data and documents using operating PKI certificates. SHS Web of Conferences, 119, 07004. </a:t>
            </a:r>
            <a:r>
              <a:rPr lang="en-US" sz="1000" dirty="0">
                <a:hlinkClick r:id="rId6"/>
              </a:rPr>
              <a:t>https://doi.org/10.1051/shsconf/202111907004</a:t>
            </a:r>
            <a:endParaRPr lang="en-US" sz="1000" dirty="0"/>
          </a:p>
          <a:p>
            <a:pPr algn="just"/>
            <a:endParaRPr lang="en-US" sz="1000" dirty="0"/>
          </a:p>
          <a:p>
            <a:pPr algn="just"/>
            <a:r>
              <a:rPr lang="en-US" sz="1000" dirty="0"/>
              <a:t>5.Verma, G. (2024). Modified DNA-based Cryptography System in the Cloud: Deep Maxout-based Fined Tuned Key Generation. Journal of Web Engineering, 22(08), 1075–1100. </a:t>
            </a:r>
            <a:r>
              <a:rPr lang="en-US" sz="1000" dirty="0">
                <a:hlinkClick r:id="rId7"/>
              </a:rPr>
              <a:t>https://doi.org/10.13052/jwe1540-9589.2281</a:t>
            </a:r>
            <a:endParaRPr lang="en-US" sz="1000" dirty="0"/>
          </a:p>
          <a:p>
            <a:pPr algn="just"/>
            <a:endParaRPr lang="en-US" sz="1000" dirty="0"/>
          </a:p>
        </p:txBody>
      </p:sp>
    </p:spTree>
    <p:extLst>
      <p:ext uri="{BB962C8B-B14F-4D97-AF65-F5344CB8AC3E}">
        <p14:creationId xmlns:p14="http://schemas.microsoft.com/office/powerpoint/2010/main" val="1904107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CC786B9-EBF9-E102-76EC-A8CB13833C62}"/>
              </a:ext>
            </a:extLst>
          </p:cNvPr>
          <p:cNvSpPr>
            <a:spLocks noGrp="1"/>
          </p:cNvSpPr>
          <p:nvPr>
            <p:ph type="dt" idx="10"/>
          </p:nvPr>
        </p:nvSpPr>
        <p:spPr/>
        <p:txBody>
          <a:bodyPr/>
          <a:lstStyle/>
          <a:p>
            <a:endParaRPr lang="en-IN"/>
          </a:p>
        </p:txBody>
      </p:sp>
      <p:sp>
        <p:nvSpPr>
          <p:cNvPr id="6" name="Footer Placeholder 5">
            <a:extLst>
              <a:ext uri="{FF2B5EF4-FFF2-40B4-BE49-F238E27FC236}">
                <a16:creationId xmlns:a16="http://schemas.microsoft.com/office/drawing/2014/main" id="{930A98FD-140B-16C2-BC00-EE5B129A6A73}"/>
              </a:ext>
            </a:extLst>
          </p:cNvPr>
          <p:cNvSpPr>
            <a:spLocks noGrp="1"/>
          </p:cNvSpPr>
          <p:nvPr>
            <p:ph type="ftr" idx="11"/>
          </p:nvPr>
        </p:nvSpPr>
        <p:spPr/>
        <p:txBody>
          <a:bodyPr/>
          <a:lstStyle/>
          <a:p>
            <a:r>
              <a:rPr lang="en-US"/>
              <a:t>Department of Computer Science and Engineering</a:t>
            </a:r>
          </a:p>
        </p:txBody>
      </p:sp>
      <p:sp>
        <p:nvSpPr>
          <p:cNvPr id="7" name="Slide Number Placeholder 6">
            <a:extLst>
              <a:ext uri="{FF2B5EF4-FFF2-40B4-BE49-F238E27FC236}">
                <a16:creationId xmlns:a16="http://schemas.microsoft.com/office/drawing/2014/main" id="{00732969-A00D-F974-B073-3B761BD943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11</a:t>
            </a:fld>
            <a:endParaRPr lang="en-US"/>
          </a:p>
        </p:txBody>
      </p:sp>
      <p:sp>
        <p:nvSpPr>
          <p:cNvPr id="8" name="TextBox 7">
            <a:extLst>
              <a:ext uri="{FF2B5EF4-FFF2-40B4-BE49-F238E27FC236}">
                <a16:creationId xmlns:a16="http://schemas.microsoft.com/office/drawing/2014/main" id="{3FBE68F3-DC53-A3D4-42D1-F761DEA0F2F7}"/>
              </a:ext>
            </a:extLst>
          </p:cNvPr>
          <p:cNvSpPr txBox="1"/>
          <p:nvPr/>
        </p:nvSpPr>
        <p:spPr>
          <a:xfrm rot="10800000" flipV="1">
            <a:off x="3490940" y="2279362"/>
            <a:ext cx="3062260" cy="584775"/>
          </a:xfrm>
          <a:prstGeom prst="rect">
            <a:avLst/>
          </a:prstGeom>
          <a:noFill/>
        </p:spPr>
        <p:txBody>
          <a:bodyPr wrap="square" rtlCol="0">
            <a:spAutoFit/>
          </a:bodyPr>
          <a:lstStyle/>
          <a:p>
            <a:pPr algn="l"/>
            <a:r>
              <a:rPr lang="en-IN" sz="3200" b="1">
                <a:latin typeface="Times New Roman" panose="02000000000000000000" pitchFamily="2" charset="0"/>
                <a:ea typeface="Times New Roman" panose="02000000000000000000" pitchFamily="2" charset="0"/>
              </a:rPr>
              <a:t>THANK YOU</a:t>
            </a:r>
          </a:p>
        </p:txBody>
      </p:sp>
    </p:spTree>
    <p:extLst>
      <p:ext uri="{BB962C8B-B14F-4D97-AF65-F5344CB8AC3E}">
        <p14:creationId xmlns:p14="http://schemas.microsoft.com/office/powerpoint/2010/main" val="18480534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1481</Words>
  <Application>Microsoft Office PowerPoint</Application>
  <PresentationFormat>On-screen Show (16:9)</PresentationFormat>
  <Paragraphs>158</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Google Sans Flex</vt:lpstr>
      <vt:lpstr>Arial</vt:lpstr>
      <vt:lpstr>system-ui</vt:lpstr>
      <vt:lpstr>Noto Sans Symbols</vt:lpstr>
      <vt:lpstr>Trebuchet MS</vt:lpstr>
      <vt:lpstr>Times New Roman</vt:lpstr>
      <vt:lpstr>Bookman Old Style</vt:lpstr>
      <vt:lpstr>Calibri</vt:lpstr>
      <vt:lpstr>1_Office Theme</vt:lpstr>
      <vt:lpstr>Cloud-Based Certificate Verification System Using DNA Cryptography</vt:lpstr>
      <vt:lpstr>PowerPoint Presentation</vt:lpstr>
      <vt:lpstr>Literature Survey </vt:lpstr>
      <vt:lpstr>Literature Survey </vt:lpstr>
      <vt:lpstr>Introduction</vt:lpstr>
      <vt:lpstr>Problem Statement</vt:lpstr>
      <vt:lpstr>Objectives </vt:lpstr>
      <vt:lpstr>    Proposed Methodology  </vt:lpstr>
      <vt:lpstr>Project Time Line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TITILE</dc:title>
  <dc:creator>Raj</dc:creator>
  <cp:lastModifiedBy>SHIVA MUDIPELLY</cp:lastModifiedBy>
  <cp:revision>100</cp:revision>
  <dcterms:modified xsi:type="dcterms:W3CDTF">2026-01-03T03:01:54Z</dcterms:modified>
</cp:coreProperties>
</file>